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5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556" autoAdjust="0"/>
    <p:restoredTop sz="94660"/>
  </p:normalViewPr>
  <p:slideViewPr>
    <p:cSldViewPr snapToGrid="0" snapToObjects="1">
      <p:cViewPr>
        <p:scale>
          <a:sx n="66" d="100"/>
          <a:sy n="66" d="100"/>
        </p:scale>
        <p:origin x="304" y="32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217920" y="0"/>
            <a:ext cx="5973775" cy="7315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972800" y="137160"/>
            <a:ext cx="54864" cy="5486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119104" y="137160"/>
            <a:ext cx="54864" cy="5486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265408" y="137160"/>
            <a:ext cx="54864" cy="5486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411712" y="137160"/>
            <a:ext cx="54864" cy="5486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1558016" y="137160"/>
            <a:ext cx="54864" cy="5486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972800" y="283464"/>
            <a:ext cx="54864" cy="5486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1119104" y="283464"/>
            <a:ext cx="54864" cy="5486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1265408" y="283464"/>
            <a:ext cx="54864" cy="5486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1411712" y="283464"/>
            <a:ext cx="54864" cy="5486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1558016" y="283464"/>
            <a:ext cx="54864" cy="5486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0972800" y="429768"/>
            <a:ext cx="54864" cy="5486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1119104" y="429768"/>
            <a:ext cx="54864" cy="5486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1265408" y="429768"/>
            <a:ext cx="54864" cy="5486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1411712" y="429768"/>
            <a:ext cx="54864" cy="5486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1558016" y="429768"/>
            <a:ext cx="54864" cy="5486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0" y="5303520"/>
            <a:ext cx="12191695" cy="15544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498079" y="3465576"/>
            <a:ext cx="4693615" cy="3383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9601200" y="3931920"/>
            <a:ext cx="54864" cy="548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9747504" y="3931920"/>
            <a:ext cx="54864" cy="548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9893808" y="3931920"/>
            <a:ext cx="54864" cy="548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10040112" y="3931920"/>
            <a:ext cx="54864" cy="548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10186416" y="3931920"/>
            <a:ext cx="54864" cy="548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10332720" y="3931920"/>
            <a:ext cx="54864" cy="548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9601200" y="4078224"/>
            <a:ext cx="54864" cy="548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9747504" y="4078224"/>
            <a:ext cx="54864" cy="548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9893808" y="4078224"/>
            <a:ext cx="54864" cy="548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10040112" y="4078224"/>
            <a:ext cx="54864" cy="548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10186416" y="4078224"/>
            <a:ext cx="54864" cy="548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10332720" y="4078224"/>
            <a:ext cx="54864" cy="548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9601200" y="4224528"/>
            <a:ext cx="54864" cy="548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9747504" y="4224528"/>
            <a:ext cx="54864" cy="548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9893808" y="4224528"/>
            <a:ext cx="54864" cy="548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10040112" y="4224528"/>
            <a:ext cx="54864" cy="548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10186416" y="4224528"/>
            <a:ext cx="54864" cy="548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10332720" y="4224528"/>
            <a:ext cx="54864" cy="548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9601200" y="4370832"/>
            <a:ext cx="54864" cy="548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9747504" y="4370832"/>
            <a:ext cx="54864" cy="548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9893808" y="4370832"/>
            <a:ext cx="54864" cy="548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10040112" y="4370832"/>
            <a:ext cx="54864" cy="548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10186416" y="4370832"/>
            <a:ext cx="54864" cy="548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10332720" y="4370832"/>
            <a:ext cx="54864" cy="548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31520" y="914400"/>
            <a:ext cx="4572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F59E0B"/>
                </a:solidFill>
                <a:latin typeface="Arial Black"/>
              </a:rPr>
              <a:t>♻️ RUBBISH DIGITAL PLATFORM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0080" y="2029968"/>
            <a:ext cx="5943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600" b="1">
                <a:solidFill>
                  <a:srgbClr val="10B981"/>
                </a:solidFill>
                <a:latin typeface="Arial Black"/>
              </a:rPr>
              <a:t>RUBBISH
WEBSITE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31520" y="3931920"/>
            <a:ext cx="2926080" cy="640080"/>
          </a:xfrm>
          <a:prstGeom prst="rect">
            <a:avLst/>
          </a:prstGeom>
          <a:solidFill>
            <a:srgbClr val="F59E0B"/>
          </a:solidFill>
          <a:ln w="190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F172A"/>
                </a:solidFill>
                <a:latin typeface="Arial Black"/>
              </a:rPr>
              <a:t>USER MANUAL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93955" y="4791456"/>
            <a:ext cx="5943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dirty="0">
                <a:solidFill>
                  <a:srgbClr val="64748B"/>
                </a:solidFill>
                <a:latin typeface="Arial"/>
              </a:rPr>
              <a:t>Panduan </a:t>
            </a:r>
            <a:r>
              <a:rPr sz="1200" dirty="0" err="1">
                <a:solidFill>
                  <a:srgbClr val="64748B"/>
                </a:solidFill>
                <a:latin typeface="Arial"/>
              </a:rPr>
              <a:t>Lengkap</a:t>
            </a:r>
            <a:r>
              <a:rPr sz="1200" dirty="0">
                <a:solidFill>
                  <a:srgbClr val="64748B"/>
                </a:solidFill>
                <a:latin typeface="Arial"/>
              </a:rPr>
              <a:t> </a:t>
            </a:r>
            <a:r>
              <a:rPr sz="1200" dirty="0" err="1">
                <a:solidFill>
                  <a:srgbClr val="64748B"/>
                </a:solidFill>
                <a:latin typeface="Arial"/>
              </a:rPr>
              <a:t>Penggunaan</a:t>
            </a:r>
            <a:r>
              <a:rPr sz="1200" dirty="0">
                <a:solidFill>
                  <a:srgbClr val="64748B"/>
                </a:solidFill>
                <a:latin typeface="Arial"/>
              </a:rPr>
              <a:t> </a:t>
            </a:r>
            <a:r>
              <a:rPr sz="1200" dirty="0" err="1">
                <a:solidFill>
                  <a:srgbClr val="64748B"/>
                </a:solidFill>
                <a:latin typeface="Arial"/>
              </a:rPr>
              <a:t>Aplikasi</a:t>
            </a:r>
            <a:r>
              <a:rPr sz="1200" dirty="0">
                <a:solidFill>
                  <a:srgbClr val="64748B"/>
                </a:solidFill>
                <a:latin typeface="Arial"/>
              </a:rPr>
              <a:t> </a:t>
            </a:r>
            <a:r>
              <a:rPr sz="1200" dirty="0" err="1">
                <a:solidFill>
                  <a:srgbClr val="64748B"/>
                </a:solidFill>
                <a:latin typeface="Arial"/>
              </a:rPr>
              <a:t>Pelaporan</a:t>
            </a:r>
            <a:r>
              <a:rPr sz="1200" dirty="0">
                <a:solidFill>
                  <a:srgbClr val="64748B"/>
                </a:solidFill>
                <a:latin typeface="Arial"/>
              </a:rPr>
              <a:t> &amp; </a:t>
            </a:r>
            <a:r>
              <a:rPr sz="1200" dirty="0" err="1">
                <a:solidFill>
                  <a:srgbClr val="64748B"/>
                </a:solidFill>
                <a:latin typeface="Arial"/>
              </a:rPr>
              <a:t>Penukaran</a:t>
            </a:r>
            <a:r>
              <a:rPr sz="1200" dirty="0">
                <a:solidFill>
                  <a:srgbClr val="64748B"/>
                </a:solidFill>
                <a:latin typeface="Arial"/>
              </a:rPr>
              <a:t> </a:t>
            </a:r>
            <a:r>
              <a:rPr sz="1200" dirty="0" err="1">
                <a:solidFill>
                  <a:srgbClr val="64748B"/>
                </a:solidFill>
                <a:latin typeface="Arial"/>
              </a:rPr>
              <a:t>Sampah</a:t>
            </a:r>
            <a:r>
              <a:rPr sz="1200" dirty="0">
                <a:solidFill>
                  <a:srgbClr val="64748B"/>
                </a:solidFill>
                <a:latin typeface="Arial"/>
              </a:rPr>
              <a:t> </a:t>
            </a:r>
            <a:r>
              <a:rPr sz="1200" dirty="0" err="1">
                <a:solidFill>
                  <a:srgbClr val="64748B"/>
                </a:solidFill>
                <a:latin typeface="Arial"/>
              </a:rPr>
              <a:t>Berhadiah</a:t>
            </a:r>
            <a:endParaRPr sz="1200" dirty="0">
              <a:solidFill>
                <a:srgbClr val="64748B"/>
              </a:solidFill>
              <a:latin typeface="Arial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731520" y="585216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Arial"/>
              </a:rPr>
              <a:t>www.rubbish.app  •  Versi 2.0 Modern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D9C0EEAE-E7A0-14D9-BE2C-77E5D35786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5563" y="1353989"/>
            <a:ext cx="3603581" cy="38438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822266" y="393192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dirty="0">
                <a:solidFill>
                  <a:srgbClr val="059669"/>
                </a:solidFill>
                <a:latin typeface="Arial Black"/>
              </a:rPr>
              <a:t>♻️ RUBBISH APP</a:t>
            </a:r>
            <a:r>
              <a:rPr sz="1100" dirty="0">
                <a:solidFill>
                  <a:srgbClr val="64748B"/>
                </a:solidFill>
                <a:latin typeface="Arial"/>
              </a:rPr>
              <a:t> • USER MANUAL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8848" y="489204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dirty="0">
                <a:solidFill>
                  <a:srgbClr val="0D9488"/>
                </a:solidFill>
                <a:latin typeface="Arial"/>
              </a:rPr>
              <a:t>RINGKASAN EKOSISTEM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8848" y="923544"/>
            <a:ext cx="7772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 dirty="0">
                <a:solidFill>
                  <a:srgbClr val="0F172A"/>
                </a:solidFill>
                <a:latin typeface="Arial Black"/>
              </a:rPr>
              <a:t>Alur </a:t>
            </a:r>
            <a:r>
              <a:rPr sz="2200" b="1" dirty="0" err="1">
                <a:solidFill>
                  <a:srgbClr val="0F172A"/>
                </a:solidFill>
                <a:latin typeface="Arial Black"/>
              </a:rPr>
              <a:t>Kerja</a:t>
            </a:r>
            <a:r>
              <a:rPr sz="2200" b="1" dirty="0">
                <a:solidFill>
                  <a:srgbClr val="0F172A"/>
                </a:solidFill>
                <a:latin typeface="Arial Black"/>
              </a:rPr>
              <a:t> Utama Rubbish Platform</a:t>
            </a:r>
          </a:p>
        </p:txBody>
      </p:sp>
      <p:sp>
        <p:nvSpPr>
          <p:cNvPr id="6" name="Oval 5"/>
          <p:cNvSpPr/>
          <p:nvPr/>
        </p:nvSpPr>
        <p:spPr>
          <a:xfrm>
            <a:off x="11155680" y="822960"/>
            <a:ext cx="54864" cy="548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1301984" y="822960"/>
            <a:ext cx="54864" cy="548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448288" y="822960"/>
            <a:ext cx="54864" cy="548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1594592" y="822960"/>
            <a:ext cx="54864" cy="548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1155680" y="969264"/>
            <a:ext cx="54864" cy="548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1301984" y="969264"/>
            <a:ext cx="54864" cy="548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1448288" y="969264"/>
            <a:ext cx="54864" cy="548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1594592" y="969264"/>
            <a:ext cx="54864" cy="548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1155680" y="1115568"/>
            <a:ext cx="54864" cy="548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1301984" y="1115568"/>
            <a:ext cx="54864" cy="548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1448288" y="1115568"/>
            <a:ext cx="54864" cy="548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1594592" y="1115568"/>
            <a:ext cx="54864" cy="548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748B"/>
                </a:solidFill>
                <a:latin typeface="Arial"/>
              </a:rPr>
              <a:t>Rubbish Digital Platform • www.rubbish.app • Panduan Resmi Pengguna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0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059669"/>
                </a:solidFill>
                <a:latin typeface="Arial"/>
              </a:rPr>
              <a:t>02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1645920"/>
            <a:ext cx="5303520" cy="1005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68680" y="1828800"/>
            <a:ext cx="640080" cy="64008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FFFFFF"/>
                </a:solidFill>
                <a:latin typeface="Arial Black"/>
              </a:rPr>
              <a:t>01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45920" y="1858093"/>
            <a:ext cx="4206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dirty="0">
                <a:solidFill>
                  <a:srgbClr val="0F172A"/>
                </a:solidFill>
                <a:latin typeface="Arial"/>
              </a:rPr>
              <a:t>1. </a:t>
            </a:r>
            <a:r>
              <a:rPr sz="1200" b="1" dirty="0" err="1">
                <a:solidFill>
                  <a:srgbClr val="0F172A"/>
                </a:solidFill>
                <a:latin typeface="Arial"/>
              </a:rPr>
              <a:t>Buat</a:t>
            </a:r>
            <a:r>
              <a:rPr sz="1200" b="1" dirty="0">
                <a:solidFill>
                  <a:srgbClr val="0F172A"/>
                </a:solidFill>
                <a:latin typeface="Arial"/>
              </a:rPr>
              <a:t> Akun &amp; </a:t>
            </a:r>
            <a:r>
              <a:rPr sz="1200" b="1" dirty="0" err="1">
                <a:solidFill>
                  <a:srgbClr val="0F172A"/>
                </a:solidFill>
                <a:latin typeface="Arial"/>
              </a:rPr>
              <a:t>Registrasi</a:t>
            </a:r>
            <a:endParaRPr sz="1200" b="1" dirty="0">
              <a:solidFill>
                <a:srgbClr val="0F172A"/>
              </a:solidFill>
              <a:latin typeface="Arial"/>
            </a:endParaRPr>
          </a:p>
          <a:p>
            <a:r>
              <a:rPr sz="950" dirty="0" err="1">
                <a:solidFill>
                  <a:srgbClr val="64748B"/>
                </a:solidFill>
                <a:latin typeface="Arial"/>
              </a:rPr>
              <a:t>Pilih</a:t>
            </a:r>
            <a:r>
              <a:rPr sz="950" dirty="0">
                <a:solidFill>
                  <a:srgbClr val="64748B"/>
                </a:solidFill>
                <a:latin typeface="Arial"/>
              </a:rPr>
              <a:t> </a:t>
            </a:r>
            <a:r>
              <a:rPr sz="950" dirty="0" err="1">
                <a:solidFill>
                  <a:srgbClr val="64748B"/>
                </a:solidFill>
                <a:latin typeface="Arial"/>
              </a:rPr>
              <a:t>sektor</a:t>
            </a:r>
            <a:r>
              <a:rPr sz="950" dirty="0">
                <a:solidFill>
                  <a:srgbClr val="64748B"/>
                </a:solidFill>
                <a:latin typeface="Arial"/>
              </a:rPr>
              <a:t> (Rumah, </a:t>
            </a:r>
            <a:r>
              <a:rPr sz="950" dirty="0" err="1">
                <a:solidFill>
                  <a:srgbClr val="64748B"/>
                </a:solidFill>
                <a:latin typeface="Arial"/>
              </a:rPr>
              <a:t>Sekolah</a:t>
            </a:r>
            <a:r>
              <a:rPr sz="950" dirty="0">
                <a:solidFill>
                  <a:srgbClr val="64748B"/>
                </a:solidFill>
                <a:latin typeface="Arial"/>
              </a:rPr>
              <a:t>, Perusahaan, </a:t>
            </a:r>
            <a:r>
              <a:rPr sz="950" dirty="0" err="1">
                <a:solidFill>
                  <a:srgbClr val="64748B"/>
                </a:solidFill>
                <a:latin typeface="Arial"/>
              </a:rPr>
              <a:t>Apartemen</a:t>
            </a:r>
            <a:r>
              <a:rPr sz="950" dirty="0">
                <a:solidFill>
                  <a:srgbClr val="64748B"/>
                </a:solidFill>
                <a:latin typeface="Arial"/>
              </a:rPr>
              <a:t>) dan </a:t>
            </a:r>
            <a:r>
              <a:rPr sz="950" dirty="0" err="1">
                <a:solidFill>
                  <a:srgbClr val="64748B"/>
                </a:solidFill>
                <a:latin typeface="Arial"/>
              </a:rPr>
              <a:t>lengkapi</a:t>
            </a:r>
            <a:r>
              <a:rPr sz="950" dirty="0">
                <a:solidFill>
                  <a:srgbClr val="64748B"/>
                </a:solidFill>
                <a:latin typeface="Arial"/>
              </a:rPr>
              <a:t> </a:t>
            </a:r>
            <a:r>
              <a:rPr sz="950" dirty="0" err="1">
                <a:solidFill>
                  <a:srgbClr val="64748B"/>
                </a:solidFill>
                <a:latin typeface="Arial"/>
              </a:rPr>
              <a:t>identitas</a:t>
            </a:r>
            <a:r>
              <a:rPr sz="950" dirty="0">
                <a:solidFill>
                  <a:srgbClr val="64748B"/>
                </a:solidFill>
                <a:latin typeface="Arial"/>
              </a:rPr>
              <a:t> </a:t>
            </a:r>
            <a:r>
              <a:rPr sz="950" dirty="0" err="1">
                <a:solidFill>
                  <a:srgbClr val="64748B"/>
                </a:solidFill>
                <a:latin typeface="Arial"/>
              </a:rPr>
              <a:t>resmi</a:t>
            </a:r>
            <a:r>
              <a:rPr sz="950" dirty="0">
                <a:solidFill>
                  <a:srgbClr val="64748B"/>
                </a:solidFill>
                <a:latin typeface="Arial"/>
              </a:rPr>
              <a:t>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2761488"/>
            <a:ext cx="5303520" cy="1005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868680" y="2944368"/>
            <a:ext cx="640080" cy="64008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FFFFFF"/>
                </a:solidFill>
                <a:latin typeface="Arial Black"/>
              </a:rPr>
              <a:t>02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45920" y="2980944"/>
            <a:ext cx="4206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dirty="0">
                <a:solidFill>
                  <a:srgbClr val="0F172A"/>
                </a:solidFill>
                <a:latin typeface="Arial"/>
              </a:rPr>
              <a:t>2. </a:t>
            </a:r>
            <a:r>
              <a:rPr sz="1200" b="1" dirty="0" err="1">
                <a:solidFill>
                  <a:srgbClr val="0F172A"/>
                </a:solidFill>
                <a:latin typeface="Arial"/>
              </a:rPr>
              <a:t>Ajukan</a:t>
            </a:r>
            <a:r>
              <a:rPr sz="1200" b="1" dirty="0">
                <a:solidFill>
                  <a:srgbClr val="0F172A"/>
                </a:solidFill>
                <a:latin typeface="Arial"/>
              </a:rPr>
              <a:t> </a:t>
            </a:r>
            <a:r>
              <a:rPr sz="1200" b="1" dirty="0" err="1">
                <a:solidFill>
                  <a:srgbClr val="0F172A"/>
                </a:solidFill>
                <a:latin typeface="Arial"/>
              </a:rPr>
              <a:t>Laporan</a:t>
            </a:r>
            <a:r>
              <a:rPr sz="1200" b="1" dirty="0">
                <a:solidFill>
                  <a:srgbClr val="0F172A"/>
                </a:solidFill>
                <a:latin typeface="Arial"/>
              </a:rPr>
              <a:t> </a:t>
            </a:r>
            <a:r>
              <a:rPr sz="1200" b="1" dirty="0" err="1">
                <a:solidFill>
                  <a:srgbClr val="0F172A"/>
                </a:solidFill>
                <a:latin typeface="Arial"/>
              </a:rPr>
              <a:t>Sampah</a:t>
            </a:r>
            <a:endParaRPr sz="1200" b="1" dirty="0">
              <a:solidFill>
                <a:srgbClr val="0F172A"/>
              </a:solidFill>
              <a:latin typeface="Arial"/>
            </a:endParaRPr>
          </a:p>
          <a:p>
            <a:r>
              <a:rPr sz="950" dirty="0" err="1">
                <a:solidFill>
                  <a:srgbClr val="64748B"/>
                </a:solidFill>
                <a:latin typeface="Arial"/>
              </a:rPr>
              <a:t>Pilih</a:t>
            </a:r>
            <a:r>
              <a:rPr sz="950" dirty="0">
                <a:solidFill>
                  <a:srgbClr val="64748B"/>
                </a:solidFill>
                <a:latin typeface="Arial"/>
              </a:rPr>
              <a:t> </a:t>
            </a:r>
            <a:r>
              <a:rPr sz="950" dirty="0" err="1">
                <a:solidFill>
                  <a:srgbClr val="64748B"/>
                </a:solidFill>
                <a:latin typeface="Arial"/>
              </a:rPr>
              <a:t>jenis</a:t>
            </a:r>
            <a:r>
              <a:rPr sz="950" dirty="0">
                <a:solidFill>
                  <a:srgbClr val="64748B"/>
                </a:solidFill>
                <a:latin typeface="Arial"/>
              </a:rPr>
              <a:t> </a:t>
            </a:r>
            <a:r>
              <a:rPr sz="950" dirty="0" err="1">
                <a:solidFill>
                  <a:srgbClr val="64748B"/>
                </a:solidFill>
                <a:latin typeface="Arial"/>
              </a:rPr>
              <a:t>sampah</a:t>
            </a:r>
            <a:r>
              <a:rPr sz="950" dirty="0">
                <a:solidFill>
                  <a:srgbClr val="64748B"/>
                </a:solidFill>
                <a:latin typeface="Arial"/>
              </a:rPr>
              <a:t>, </a:t>
            </a:r>
            <a:r>
              <a:rPr sz="950" dirty="0" err="1">
                <a:solidFill>
                  <a:srgbClr val="64748B"/>
                </a:solidFill>
                <a:latin typeface="Arial"/>
              </a:rPr>
              <a:t>masukkan</a:t>
            </a:r>
            <a:r>
              <a:rPr sz="950" dirty="0">
                <a:solidFill>
                  <a:srgbClr val="64748B"/>
                </a:solidFill>
                <a:latin typeface="Arial"/>
              </a:rPr>
              <a:t> </a:t>
            </a:r>
            <a:r>
              <a:rPr sz="950" dirty="0" err="1">
                <a:solidFill>
                  <a:srgbClr val="64748B"/>
                </a:solidFill>
                <a:latin typeface="Arial"/>
              </a:rPr>
              <a:t>estimasi</a:t>
            </a:r>
            <a:r>
              <a:rPr sz="950" dirty="0">
                <a:solidFill>
                  <a:srgbClr val="64748B"/>
                </a:solidFill>
                <a:latin typeface="Arial"/>
              </a:rPr>
              <a:t> </a:t>
            </a:r>
            <a:r>
              <a:rPr sz="950" dirty="0" err="1">
                <a:solidFill>
                  <a:srgbClr val="64748B"/>
                </a:solidFill>
                <a:latin typeface="Arial"/>
              </a:rPr>
              <a:t>berat</a:t>
            </a:r>
            <a:r>
              <a:rPr sz="950" dirty="0">
                <a:solidFill>
                  <a:srgbClr val="64748B"/>
                </a:solidFill>
                <a:latin typeface="Arial"/>
              </a:rPr>
              <a:t>, </a:t>
            </a:r>
            <a:r>
              <a:rPr sz="950" dirty="0" err="1">
                <a:solidFill>
                  <a:srgbClr val="64748B"/>
                </a:solidFill>
                <a:latin typeface="Arial"/>
              </a:rPr>
              <a:t>alamat</a:t>
            </a:r>
            <a:r>
              <a:rPr sz="950" dirty="0">
                <a:solidFill>
                  <a:srgbClr val="64748B"/>
                </a:solidFill>
                <a:latin typeface="Arial"/>
              </a:rPr>
              <a:t> </a:t>
            </a:r>
            <a:r>
              <a:rPr sz="950" dirty="0" err="1">
                <a:solidFill>
                  <a:srgbClr val="64748B"/>
                </a:solidFill>
                <a:latin typeface="Arial"/>
              </a:rPr>
              <a:t>jemput</a:t>
            </a:r>
            <a:r>
              <a:rPr sz="950" dirty="0">
                <a:solidFill>
                  <a:srgbClr val="64748B"/>
                </a:solidFill>
                <a:latin typeface="Arial"/>
              </a:rPr>
              <a:t>, dan </a:t>
            </a:r>
            <a:r>
              <a:rPr sz="950" dirty="0" err="1">
                <a:solidFill>
                  <a:srgbClr val="64748B"/>
                </a:solidFill>
                <a:latin typeface="Arial"/>
              </a:rPr>
              <a:t>sertakan</a:t>
            </a:r>
            <a:r>
              <a:rPr sz="950" dirty="0">
                <a:solidFill>
                  <a:srgbClr val="64748B"/>
                </a:solidFill>
                <a:latin typeface="Arial"/>
              </a:rPr>
              <a:t> </a:t>
            </a:r>
            <a:r>
              <a:rPr sz="950" dirty="0" err="1">
                <a:solidFill>
                  <a:srgbClr val="64748B"/>
                </a:solidFill>
                <a:latin typeface="Arial"/>
              </a:rPr>
              <a:t>foto</a:t>
            </a:r>
            <a:r>
              <a:rPr sz="950" dirty="0">
                <a:solidFill>
                  <a:srgbClr val="64748B"/>
                </a:solidFill>
                <a:latin typeface="Arial"/>
              </a:rPr>
              <a:t>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3877056"/>
            <a:ext cx="5303520" cy="1005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868680" y="4059936"/>
            <a:ext cx="640080" cy="640080"/>
          </a:xfrm>
          <a:prstGeom prst="round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FFFFFF"/>
                </a:solidFill>
                <a:latin typeface="Arial Black"/>
              </a:rPr>
              <a:t>03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45920" y="4086235"/>
            <a:ext cx="4206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dirty="0">
                <a:solidFill>
                  <a:srgbClr val="0F172A"/>
                </a:solidFill>
                <a:latin typeface="Arial"/>
              </a:rPr>
              <a:t>3. </a:t>
            </a:r>
            <a:r>
              <a:rPr sz="1200" b="1" dirty="0" err="1">
                <a:solidFill>
                  <a:srgbClr val="0F172A"/>
                </a:solidFill>
                <a:latin typeface="Arial"/>
              </a:rPr>
              <a:t>Verifikasi</a:t>
            </a:r>
            <a:r>
              <a:rPr sz="1200" b="1" dirty="0">
                <a:solidFill>
                  <a:srgbClr val="0F172A"/>
                </a:solidFill>
                <a:latin typeface="Arial"/>
              </a:rPr>
              <a:t> &amp; </a:t>
            </a:r>
            <a:r>
              <a:rPr sz="1200" b="1" dirty="0" err="1">
                <a:solidFill>
                  <a:srgbClr val="0F172A"/>
                </a:solidFill>
                <a:latin typeface="Arial"/>
              </a:rPr>
              <a:t>Jemput</a:t>
            </a:r>
            <a:endParaRPr sz="1200" b="1" dirty="0">
              <a:solidFill>
                <a:srgbClr val="0F172A"/>
              </a:solidFill>
              <a:latin typeface="Arial"/>
            </a:endParaRPr>
          </a:p>
          <a:p>
            <a:r>
              <a:rPr sz="950" dirty="0">
                <a:solidFill>
                  <a:srgbClr val="64748B"/>
                </a:solidFill>
                <a:latin typeface="Arial"/>
              </a:rPr>
              <a:t>Tim admin </a:t>
            </a:r>
            <a:r>
              <a:rPr sz="950" dirty="0" err="1">
                <a:solidFill>
                  <a:srgbClr val="64748B"/>
                </a:solidFill>
                <a:latin typeface="Arial"/>
              </a:rPr>
              <a:t>memverifikasi</a:t>
            </a:r>
            <a:r>
              <a:rPr sz="950" dirty="0">
                <a:solidFill>
                  <a:srgbClr val="64748B"/>
                </a:solidFill>
                <a:latin typeface="Arial"/>
              </a:rPr>
              <a:t>, </a:t>
            </a:r>
            <a:r>
              <a:rPr sz="950" dirty="0" err="1">
                <a:solidFill>
                  <a:srgbClr val="64748B"/>
                </a:solidFill>
                <a:latin typeface="Arial"/>
              </a:rPr>
              <a:t>menjemput</a:t>
            </a:r>
            <a:r>
              <a:rPr sz="950" dirty="0">
                <a:solidFill>
                  <a:srgbClr val="64748B"/>
                </a:solidFill>
                <a:latin typeface="Arial"/>
              </a:rPr>
              <a:t> </a:t>
            </a:r>
            <a:r>
              <a:rPr sz="950" dirty="0" err="1">
                <a:solidFill>
                  <a:srgbClr val="64748B"/>
                </a:solidFill>
                <a:latin typeface="Arial"/>
              </a:rPr>
              <a:t>ke</a:t>
            </a:r>
            <a:r>
              <a:rPr sz="950" dirty="0">
                <a:solidFill>
                  <a:srgbClr val="64748B"/>
                </a:solidFill>
                <a:latin typeface="Arial"/>
              </a:rPr>
              <a:t> </a:t>
            </a:r>
            <a:r>
              <a:rPr sz="950" dirty="0" err="1">
                <a:solidFill>
                  <a:srgbClr val="64748B"/>
                </a:solidFill>
                <a:latin typeface="Arial"/>
              </a:rPr>
              <a:t>lokasi</a:t>
            </a:r>
            <a:r>
              <a:rPr sz="950" dirty="0">
                <a:solidFill>
                  <a:srgbClr val="64748B"/>
                </a:solidFill>
                <a:latin typeface="Arial"/>
              </a:rPr>
              <a:t>, dan </a:t>
            </a:r>
            <a:r>
              <a:rPr sz="950" dirty="0" err="1">
                <a:solidFill>
                  <a:srgbClr val="64748B"/>
                </a:solidFill>
                <a:latin typeface="Arial"/>
              </a:rPr>
              <a:t>menimbang</a:t>
            </a:r>
            <a:r>
              <a:rPr sz="950" dirty="0">
                <a:solidFill>
                  <a:srgbClr val="64748B"/>
                </a:solidFill>
                <a:latin typeface="Arial"/>
              </a:rPr>
              <a:t> </a:t>
            </a:r>
            <a:r>
              <a:rPr sz="950" dirty="0" err="1">
                <a:solidFill>
                  <a:srgbClr val="64748B"/>
                </a:solidFill>
                <a:latin typeface="Arial"/>
              </a:rPr>
              <a:t>berat</a:t>
            </a:r>
            <a:r>
              <a:rPr sz="950" dirty="0">
                <a:solidFill>
                  <a:srgbClr val="64748B"/>
                </a:solidFill>
                <a:latin typeface="Arial"/>
              </a:rPr>
              <a:t> </a:t>
            </a:r>
            <a:r>
              <a:rPr sz="950" dirty="0" err="1">
                <a:solidFill>
                  <a:srgbClr val="64748B"/>
                </a:solidFill>
                <a:latin typeface="Arial"/>
              </a:rPr>
              <a:t>aktual</a:t>
            </a:r>
            <a:r>
              <a:rPr sz="950" dirty="0">
                <a:solidFill>
                  <a:srgbClr val="64748B"/>
                </a:solidFill>
                <a:latin typeface="Arial"/>
              </a:rPr>
              <a:t>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4992624"/>
            <a:ext cx="5303520" cy="1005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868680" y="5175504"/>
            <a:ext cx="640080" cy="64008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FFFFFF"/>
                </a:solidFill>
                <a:latin typeface="Arial Black"/>
              </a:rPr>
              <a:t>04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45920" y="5201399"/>
            <a:ext cx="4206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dirty="0">
                <a:solidFill>
                  <a:srgbClr val="0F172A"/>
                </a:solidFill>
                <a:latin typeface="Arial"/>
              </a:rPr>
              <a:t>4. </a:t>
            </a:r>
            <a:r>
              <a:rPr sz="1200" b="1" dirty="0" err="1">
                <a:solidFill>
                  <a:srgbClr val="0F172A"/>
                </a:solidFill>
                <a:latin typeface="Arial"/>
              </a:rPr>
              <a:t>Kumpulkan</a:t>
            </a:r>
            <a:r>
              <a:rPr sz="1200" b="1" dirty="0">
                <a:solidFill>
                  <a:srgbClr val="0F172A"/>
                </a:solidFill>
                <a:latin typeface="Arial"/>
              </a:rPr>
              <a:t> &amp; </a:t>
            </a:r>
            <a:r>
              <a:rPr sz="1200" b="1" dirty="0" err="1">
                <a:solidFill>
                  <a:srgbClr val="0F172A"/>
                </a:solidFill>
                <a:latin typeface="Arial"/>
              </a:rPr>
              <a:t>Tukar</a:t>
            </a:r>
            <a:r>
              <a:rPr sz="1200" b="1" dirty="0">
                <a:solidFill>
                  <a:srgbClr val="0F172A"/>
                </a:solidFill>
                <a:latin typeface="Arial"/>
              </a:rPr>
              <a:t> </a:t>
            </a:r>
            <a:r>
              <a:rPr sz="1200" b="1" dirty="0" err="1">
                <a:solidFill>
                  <a:srgbClr val="0F172A"/>
                </a:solidFill>
                <a:latin typeface="Arial"/>
              </a:rPr>
              <a:t>Poin</a:t>
            </a:r>
            <a:endParaRPr sz="1200" b="1" dirty="0">
              <a:solidFill>
                <a:srgbClr val="0F172A"/>
              </a:solidFill>
              <a:latin typeface="Arial"/>
            </a:endParaRPr>
          </a:p>
          <a:p>
            <a:r>
              <a:rPr sz="950" dirty="0" err="1">
                <a:solidFill>
                  <a:srgbClr val="64748B"/>
                </a:solidFill>
                <a:latin typeface="Arial"/>
              </a:rPr>
              <a:t>Dapatkan</a:t>
            </a:r>
            <a:r>
              <a:rPr sz="950" dirty="0">
                <a:solidFill>
                  <a:srgbClr val="64748B"/>
                </a:solidFill>
                <a:latin typeface="Arial"/>
              </a:rPr>
              <a:t> </a:t>
            </a:r>
            <a:r>
              <a:rPr sz="950" dirty="0" err="1">
                <a:solidFill>
                  <a:srgbClr val="64748B"/>
                </a:solidFill>
                <a:latin typeface="Arial"/>
              </a:rPr>
              <a:t>poin</a:t>
            </a:r>
            <a:r>
              <a:rPr sz="950" dirty="0">
                <a:solidFill>
                  <a:srgbClr val="64748B"/>
                </a:solidFill>
                <a:latin typeface="Arial"/>
              </a:rPr>
              <a:t> </a:t>
            </a:r>
            <a:r>
              <a:rPr sz="950" dirty="0" err="1">
                <a:solidFill>
                  <a:srgbClr val="64748B"/>
                </a:solidFill>
                <a:latin typeface="Arial"/>
              </a:rPr>
              <a:t>otomatis</a:t>
            </a:r>
            <a:r>
              <a:rPr sz="950" dirty="0">
                <a:solidFill>
                  <a:srgbClr val="64748B"/>
                </a:solidFill>
                <a:latin typeface="Arial"/>
              </a:rPr>
              <a:t> </a:t>
            </a:r>
            <a:r>
              <a:rPr sz="950" dirty="0" err="1">
                <a:solidFill>
                  <a:srgbClr val="64748B"/>
                </a:solidFill>
                <a:latin typeface="Arial"/>
              </a:rPr>
              <a:t>setelah</a:t>
            </a:r>
            <a:r>
              <a:rPr sz="950" dirty="0">
                <a:solidFill>
                  <a:srgbClr val="64748B"/>
                </a:solidFill>
                <a:latin typeface="Arial"/>
              </a:rPr>
              <a:t> </a:t>
            </a:r>
            <a:r>
              <a:rPr sz="950" dirty="0" err="1">
                <a:solidFill>
                  <a:srgbClr val="64748B"/>
                </a:solidFill>
                <a:latin typeface="Arial"/>
              </a:rPr>
              <a:t>timbang</a:t>
            </a:r>
            <a:r>
              <a:rPr sz="950" dirty="0">
                <a:solidFill>
                  <a:srgbClr val="64748B"/>
                </a:solidFill>
                <a:latin typeface="Arial"/>
              </a:rPr>
              <a:t> dan </a:t>
            </a:r>
            <a:r>
              <a:rPr sz="950" dirty="0" err="1">
                <a:solidFill>
                  <a:srgbClr val="64748B"/>
                </a:solidFill>
                <a:latin typeface="Arial"/>
              </a:rPr>
              <a:t>tukar</a:t>
            </a:r>
            <a:r>
              <a:rPr sz="950" dirty="0">
                <a:solidFill>
                  <a:srgbClr val="64748B"/>
                </a:solidFill>
                <a:latin typeface="Arial"/>
              </a:rPr>
              <a:t> voucher </a:t>
            </a:r>
            <a:r>
              <a:rPr sz="950" dirty="0" err="1">
                <a:solidFill>
                  <a:srgbClr val="64748B"/>
                </a:solidFill>
                <a:latin typeface="Arial"/>
              </a:rPr>
              <a:t>belanja</a:t>
            </a:r>
            <a:r>
              <a:rPr sz="950" dirty="0">
                <a:solidFill>
                  <a:srgbClr val="64748B"/>
                </a:solidFill>
                <a:latin typeface="Arial"/>
              </a:rPr>
              <a:t> &amp; </a:t>
            </a:r>
            <a:r>
              <a:rPr sz="950" dirty="0" err="1">
                <a:solidFill>
                  <a:srgbClr val="64748B"/>
                </a:solidFill>
                <a:latin typeface="Arial"/>
              </a:rPr>
              <a:t>produk</a:t>
            </a:r>
            <a:r>
              <a:rPr sz="950" dirty="0">
                <a:solidFill>
                  <a:srgbClr val="64748B"/>
                </a:solidFill>
                <a:latin typeface="Arial"/>
              </a:rPr>
              <a:t>.</a:t>
            </a: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E9E3C0A8-5B4F-9ED2-6FFB-A8401E4054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5097" y="1728216"/>
            <a:ext cx="3688334" cy="416966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873066" y="383175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059669"/>
                </a:solidFill>
                <a:latin typeface="Arial Black"/>
              </a:rPr>
              <a:t>♻️ RUBBISH APP</a:t>
            </a:r>
            <a:r>
              <a:rPr sz="1100">
                <a:solidFill>
                  <a:srgbClr val="64748B"/>
                </a:solidFill>
                <a:latin typeface="Arial"/>
              </a:rPr>
              <a:t> • USER MANUAL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8848" y="45802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dirty="0">
                <a:solidFill>
                  <a:srgbClr val="0D9488"/>
                </a:solidFill>
                <a:latin typeface="Arial"/>
              </a:rPr>
              <a:t>REGISTRASI AKUN BARU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8848" y="816525"/>
            <a:ext cx="7772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 dirty="0">
                <a:solidFill>
                  <a:srgbClr val="0F172A"/>
                </a:solidFill>
                <a:latin typeface="Arial Black"/>
              </a:rPr>
              <a:t>Step 01: </a:t>
            </a:r>
            <a:r>
              <a:rPr sz="2200" b="1" dirty="0" err="1">
                <a:solidFill>
                  <a:srgbClr val="0F172A"/>
                </a:solidFill>
                <a:latin typeface="Arial Black"/>
              </a:rPr>
              <a:t>Memilih</a:t>
            </a:r>
            <a:r>
              <a:rPr sz="2200" b="1" dirty="0">
                <a:solidFill>
                  <a:srgbClr val="0F172A"/>
                </a:solidFill>
                <a:latin typeface="Arial Black"/>
              </a:rPr>
              <a:t> </a:t>
            </a:r>
            <a:r>
              <a:rPr sz="2200" b="1" dirty="0" err="1">
                <a:solidFill>
                  <a:srgbClr val="0F172A"/>
                </a:solidFill>
                <a:latin typeface="Arial Black"/>
              </a:rPr>
              <a:t>Kategori</a:t>
            </a:r>
            <a:r>
              <a:rPr sz="2200" b="1" dirty="0">
                <a:solidFill>
                  <a:srgbClr val="0F172A"/>
                </a:solidFill>
                <a:latin typeface="Arial Black"/>
              </a:rPr>
              <a:t> </a:t>
            </a:r>
            <a:r>
              <a:rPr sz="2200" b="1" dirty="0" err="1">
                <a:solidFill>
                  <a:srgbClr val="0F172A"/>
                </a:solidFill>
                <a:latin typeface="Arial Black"/>
              </a:rPr>
              <a:t>Pengguna</a:t>
            </a:r>
            <a:endParaRPr sz="2200" b="1" dirty="0">
              <a:solidFill>
                <a:srgbClr val="0F172A"/>
              </a:solidFill>
              <a:latin typeface="Arial Black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1463040" cy="32004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 dirty="0">
                <a:solidFill>
                  <a:srgbClr val="FFFFFF"/>
                </a:solidFill>
                <a:latin typeface="Arial"/>
              </a:rPr>
              <a:t>LANGKAH 1</a:t>
            </a:r>
          </a:p>
        </p:txBody>
      </p:sp>
      <p:sp>
        <p:nvSpPr>
          <p:cNvPr id="7" name="Oval 6"/>
          <p:cNvSpPr/>
          <p:nvPr/>
        </p:nvSpPr>
        <p:spPr>
          <a:xfrm>
            <a:off x="11155680" y="822960"/>
            <a:ext cx="54864" cy="548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301984" y="822960"/>
            <a:ext cx="54864" cy="548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1448288" y="822960"/>
            <a:ext cx="54864" cy="548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1594592" y="822960"/>
            <a:ext cx="54864" cy="548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1155680" y="969264"/>
            <a:ext cx="54864" cy="548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1301984" y="969264"/>
            <a:ext cx="54864" cy="548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1448288" y="969264"/>
            <a:ext cx="54864" cy="548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1594592" y="969264"/>
            <a:ext cx="54864" cy="548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1155680" y="1115568"/>
            <a:ext cx="54864" cy="548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1301984" y="1115568"/>
            <a:ext cx="54864" cy="548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1448288" y="1115568"/>
            <a:ext cx="54864" cy="548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1594592" y="1115568"/>
            <a:ext cx="54864" cy="548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748B"/>
                </a:solidFill>
                <a:latin typeface="Arial"/>
              </a:rPr>
              <a:t>Rubbish Digital Platform • www.rubbish.app • Panduan Resmi Pengguna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059669"/>
                </a:solidFill>
                <a:latin typeface="Arial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8848" y="2011680"/>
            <a:ext cx="5029200" cy="37933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dirty="0" err="1">
                <a:solidFill>
                  <a:srgbClr val="0F172A"/>
                </a:solidFill>
                <a:latin typeface="Arial"/>
              </a:rPr>
              <a:t>Pilih</a:t>
            </a:r>
            <a:r>
              <a:rPr sz="2000" b="1" dirty="0">
                <a:solidFill>
                  <a:srgbClr val="0F172A"/>
                </a:solidFill>
                <a:latin typeface="Arial"/>
              </a:rPr>
              <a:t> </a:t>
            </a:r>
            <a:r>
              <a:rPr sz="2000" b="1" dirty="0" err="1">
                <a:solidFill>
                  <a:srgbClr val="0F172A"/>
                </a:solidFill>
                <a:latin typeface="Arial"/>
              </a:rPr>
              <a:t>Profil</a:t>
            </a:r>
            <a:r>
              <a:rPr sz="2000" b="1" dirty="0">
                <a:solidFill>
                  <a:srgbClr val="0F172A"/>
                </a:solidFill>
                <a:latin typeface="Arial"/>
              </a:rPr>
              <a:t> Sektor yang </a:t>
            </a:r>
            <a:r>
              <a:rPr sz="2000" b="1" dirty="0" err="1">
                <a:solidFill>
                  <a:srgbClr val="0F172A"/>
                </a:solidFill>
                <a:latin typeface="Arial"/>
              </a:rPr>
              <a:t>Sesuai</a:t>
            </a:r>
            <a:r>
              <a:rPr sz="2000" b="1" dirty="0">
                <a:solidFill>
                  <a:srgbClr val="0F172A"/>
                </a:solidFill>
                <a:latin typeface="Arial"/>
              </a:rPr>
              <a:t>:</a:t>
            </a:r>
          </a:p>
          <a:p>
            <a:pPr>
              <a:spcBef>
                <a:spcPts val="1200"/>
              </a:spcBef>
            </a:pPr>
            <a:r>
              <a:rPr sz="1600" b="1" dirty="0">
                <a:solidFill>
                  <a:srgbClr val="059669"/>
                </a:solidFill>
                <a:latin typeface="Arial"/>
              </a:rPr>
              <a:t>🏠 Rumah </a:t>
            </a:r>
            <a:r>
              <a:rPr sz="1600" b="1" dirty="0" err="1">
                <a:solidFill>
                  <a:srgbClr val="059669"/>
                </a:solidFill>
                <a:latin typeface="Arial"/>
              </a:rPr>
              <a:t>Tangga</a:t>
            </a:r>
            <a:r>
              <a:rPr sz="1600" b="1" dirty="0">
                <a:solidFill>
                  <a:srgbClr val="059669"/>
                </a:solidFill>
                <a:latin typeface="Arial"/>
              </a:rPr>
              <a:t>
</a:t>
            </a:r>
            <a:r>
              <a:rPr sz="1100" dirty="0" err="1">
                <a:solidFill>
                  <a:srgbClr val="64748B"/>
                </a:solidFill>
                <a:latin typeface="Arial"/>
              </a:rPr>
              <a:t>Untuk</a:t>
            </a:r>
            <a:r>
              <a:rPr sz="1100" dirty="0">
                <a:solidFill>
                  <a:srgbClr val="64748B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64748B"/>
                </a:solidFill>
                <a:latin typeface="Arial"/>
              </a:rPr>
              <a:t>perseorangan</a:t>
            </a:r>
            <a:r>
              <a:rPr sz="1100" dirty="0">
                <a:solidFill>
                  <a:srgbClr val="64748B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64748B"/>
                </a:solidFill>
                <a:latin typeface="Arial"/>
              </a:rPr>
              <a:t>atau</a:t>
            </a:r>
            <a:r>
              <a:rPr sz="1100" dirty="0">
                <a:solidFill>
                  <a:srgbClr val="64748B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64748B"/>
                </a:solidFill>
                <a:latin typeface="Arial"/>
              </a:rPr>
              <a:t>keluarga</a:t>
            </a:r>
            <a:r>
              <a:rPr sz="1100" dirty="0">
                <a:solidFill>
                  <a:srgbClr val="64748B"/>
                </a:solidFill>
                <a:latin typeface="Arial"/>
              </a:rPr>
              <a:t>. </a:t>
            </a:r>
            <a:r>
              <a:rPr sz="1100" dirty="0" err="1">
                <a:solidFill>
                  <a:srgbClr val="64748B"/>
                </a:solidFill>
                <a:latin typeface="Arial"/>
              </a:rPr>
              <a:t>Memerlukan</a:t>
            </a:r>
            <a:r>
              <a:rPr sz="1100" dirty="0">
                <a:solidFill>
                  <a:srgbClr val="64748B"/>
                </a:solidFill>
                <a:latin typeface="Arial"/>
              </a:rPr>
              <a:t> NIK (16 digit) </a:t>
            </a:r>
            <a:r>
              <a:rPr sz="1100" dirty="0" err="1">
                <a:solidFill>
                  <a:srgbClr val="64748B"/>
                </a:solidFill>
                <a:latin typeface="Arial"/>
              </a:rPr>
              <a:t>sebagai</a:t>
            </a:r>
            <a:r>
              <a:rPr sz="1100" dirty="0">
                <a:solidFill>
                  <a:srgbClr val="64748B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64748B"/>
                </a:solidFill>
                <a:latin typeface="Arial"/>
              </a:rPr>
              <a:t>verifikasi</a:t>
            </a:r>
            <a:r>
              <a:rPr sz="1100" dirty="0">
                <a:solidFill>
                  <a:srgbClr val="64748B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64748B"/>
                </a:solidFill>
                <a:latin typeface="Arial"/>
              </a:rPr>
              <a:t>identitas</a:t>
            </a:r>
            <a:r>
              <a:rPr sz="1100" dirty="0">
                <a:solidFill>
                  <a:srgbClr val="64748B"/>
                </a:solidFill>
                <a:latin typeface="Arial"/>
              </a:rPr>
              <a:t>.</a:t>
            </a:r>
          </a:p>
          <a:p>
            <a:pPr>
              <a:spcBef>
                <a:spcPts val="1200"/>
              </a:spcBef>
            </a:pPr>
            <a:r>
              <a:rPr sz="1600" b="1" dirty="0">
                <a:solidFill>
                  <a:srgbClr val="059669"/>
                </a:solidFill>
                <a:latin typeface="Arial"/>
              </a:rPr>
              <a:t>🏫 </a:t>
            </a:r>
            <a:r>
              <a:rPr sz="1600" b="1" dirty="0" err="1">
                <a:solidFill>
                  <a:srgbClr val="059669"/>
                </a:solidFill>
                <a:latin typeface="Arial"/>
              </a:rPr>
              <a:t>Sekolah</a:t>
            </a:r>
            <a:r>
              <a:rPr sz="1600" b="1" dirty="0">
                <a:solidFill>
                  <a:srgbClr val="059669"/>
                </a:solidFill>
                <a:latin typeface="Arial"/>
              </a:rPr>
              <a:t>
</a:t>
            </a:r>
            <a:r>
              <a:rPr sz="1100" dirty="0" err="1">
                <a:solidFill>
                  <a:srgbClr val="64748B"/>
                </a:solidFill>
                <a:latin typeface="Arial"/>
              </a:rPr>
              <a:t>Untuk</a:t>
            </a:r>
            <a:r>
              <a:rPr sz="1100" dirty="0">
                <a:solidFill>
                  <a:srgbClr val="64748B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64748B"/>
                </a:solidFill>
                <a:latin typeface="Arial"/>
              </a:rPr>
              <a:t>institusi</a:t>
            </a:r>
            <a:r>
              <a:rPr sz="1100" dirty="0">
                <a:solidFill>
                  <a:srgbClr val="64748B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64748B"/>
                </a:solidFill>
                <a:latin typeface="Arial"/>
              </a:rPr>
              <a:t>pendidikan</a:t>
            </a:r>
            <a:r>
              <a:rPr sz="1100" dirty="0">
                <a:solidFill>
                  <a:srgbClr val="64748B"/>
                </a:solidFill>
                <a:latin typeface="Arial"/>
              </a:rPr>
              <a:t> (SD/SMP/SMA/Kampus). </a:t>
            </a:r>
            <a:r>
              <a:rPr sz="1100" dirty="0" err="1">
                <a:solidFill>
                  <a:srgbClr val="64748B"/>
                </a:solidFill>
                <a:latin typeface="Arial"/>
              </a:rPr>
              <a:t>Memerlukan</a:t>
            </a:r>
            <a:r>
              <a:rPr sz="1100" dirty="0">
                <a:solidFill>
                  <a:srgbClr val="64748B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64748B"/>
                </a:solidFill>
                <a:latin typeface="Arial"/>
              </a:rPr>
              <a:t>nomor</a:t>
            </a:r>
            <a:r>
              <a:rPr sz="1100" dirty="0">
                <a:solidFill>
                  <a:srgbClr val="64748B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64748B"/>
                </a:solidFill>
                <a:latin typeface="Arial"/>
              </a:rPr>
              <a:t>resmi</a:t>
            </a:r>
            <a:r>
              <a:rPr sz="1100" dirty="0">
                <a:solidFill>
                  <a:srgbClr val="64748B"/>
                </a:solidFill>
                <a:latin typeface="Arial"/>
              </a:rPr>
              <a:t> NPSN (8 digit).</a:t>
            </a:r>
          </a:p>
          <a:p>
            <a:pPr>
              <a:spcBef>
                <a:spcPts val="1200"/>
              </a:spcBef>
            </a:pPr>
            <a:r>
              <a:rPr sz="1600" b="1" dirty="0">
                <a:solidFill>
                  <a:srgbClr val="059669"/>
                </a:solidFill>
                <a:latin typeface="Arial"/>
              </a:rPr>
              <a:t>🏢 Perusahaan
</a:t>
            </a:r>
            <a:r>
              <a:rPr sz="1100" dirty="0" err="1">
                <a:solidFill>
                  <a:srgbClr val="64748B"/>
                </a:solidFill>
                <a:latin typeface="Arial"/>
              </a:rPr>
              <a:t>Untuk</a:t>
            </a:r>
            <a:r>
              <a:rPr sz="1100" dirty="0">
                <a:solidFill>
                  <a:srgbClr val="64748B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64748B"/>
                </a:solidFill>
                <a:latin typeface="Arial"/>
              </a:rPr>
              <a:t>kantor</a:t>
            </a:r>
            <a:r>
              <a:rPr sz="1100" dirty="0">
                <a:solidFill>
                  <a:srgbClr val="64748B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64748B"/>
                </a:solidFill>
                <a:latin typeface="Arial"/>
              </a:rPr>
              <a:t>atau</a:t>
            </a:r>
            <a:r>
              <a:rPr sz="1100" dirty="0">
                <a:solidFill>
                  <a:srgbClr val="64748B"/>
                </a:solidFill>
                <a:latin typeface="Arial"/>
              </a:rPr>
              <a:t> badan </a:t>
            </a:r>
            <a:r>
              <a:rPr sz="1100" dirty="0" err="1">
                <a:solidFill>
                  <a:srgbClr val="64748B"/>
                </a:solidFill>
                <a:latin typeface="Arial"/>
              </a:rPr>
              <a:t>usaha</a:t>
            </a:r>
            <a:r>
              <a:rPr sz="1100" dirty="0">
                <a:solidFill>
                  <a:srgbClr val="64748B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64748B"/>
                </a:solidFill>
                <a:latin typeface="Arial"/>
              </a:rPr>
              <a:t>komersial</a:t>
            </a:r>
            <a:r>
              <a:rPr sz="1100" dirty="0">
                <a:solidFill>
                  <a:srgbClr val="64748B"/>
                </a:solidFill>
                <a:latin typeface="Arial"/>
              </a:rPr>
              <a:t>. </a:t>
            </a:r>
            <a:r>
              <a:rPr sz="1100" dirty="0" err="1">
                <a:solidFill>
                  <a:srgbClr val="64748B"/>
                </a:solidFill>
                <a:latin typeface="Arial"/>
              </a:rPr>
              <a:t>Memerlukan</a:t>
            </a:r>
            <a:r>
              <a:rPr sz="1100" dirty="0">
                <a:solidFill>
                  <a:srgbClr val="64748B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64748B"/>
                </a:solidFill>
                <a:latin typeface="Arial"/>
              </a:rPr>
              <a:t>nomor</a:t>
            </a:r>
            <a:r>
              <a:rPr sz="1100" dirty="0">
                <a:solidFill>
                  <a:srgbClr val="64748B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64748B"/>
                </a:solidFill>
                <a:latin typeface="Arial"/>
              </a:rPr>
              <a:t>legalitas</a:t>
            </a:r>
            <a:r>
              <a:rPr sz="1100" dirty="0">
                <a:solidFill>
                  <a:srgbClr val="64748B"/>
                </a:solidFill>
                <a:latin typeface="Arial"/>
              </a:rPr>
              <a:t> NIB (13 digit).</a:t>
            </a:r>
          </a:p>
          <a:p>
            <a:pPr>
              <a:spcBef>
                <a:spcPts val="1200"/>
              </a:spcBef>
            </a:pPr>
            <a:r>
              <a:rPr sz="1600" b="1" dirty="0">
                <a:solidFill>
                  <a:srgbClr val="059669"/>
                </a:solidFill>
                <a:latin typeface="Arial"/>
              </a:rPr>
              <a:t>🏬 </a:t>
            </a:r>
            <a:r>
              <a:rPr sz="1600" b="1" dirty="0" err="1">
                <a:solidFill>
                  <a:srgbClr val="059669"/>
                </a:solidFill>
                <a:latin typeface="Arial"/>
              </a:rPr>
              <a:t>Apartemen</a:t>
            </a:r>
            <a:r>
              <a:rPr sz="1600" b="1" dirty="0">
                <a:solidFill>
                  <a:srgbClr val="059669"/>
                </a:solidFill>
                <a:latin typeface="Arial"/>
              </a:rPr>
              <a:t>
</a:t>
            </a:r>
            <a:r>
              <a:rPr sz="1100" dirty="0" err="1">
                <a:solidFill>
                  <a:srgbClr val="64748B"/>
                </a:solidFill>
                <a:latin typeface="Arial"/>
              </a:rPr>
              <a:t>Untuk</a:t>
            </a:r>
            <a:r>
              <a:rPr sz="1100" dirty="0">
                <a:solidFill>
                  <a:srgbClr val="64748B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64748B"/>
                </a:solidFill>
                <a:latin typeface="Arial"/>
              </a:rPr>
              <a:t>pengelola</a:t>
            </a:r>
            <a:r>
              <a:rPr sz="1100" dirty="0">
                <a:solidFill>
                  <a:srgbClr val="64748B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64748B"/>
                </a:solidFill>
                <a:latin typeface="Arial"/>
              </a:rPr>
              <a:t>gedung</a:t>
            </a:r>
            <a:r>
              <a:rPr sz="1100" dirty="0">
                <a:solidFill>
                  <a:srgbClr val="64748B"/>
                </a:solidFill>
                <a:latin typeface="Arial"/>
              </a:rPr>
              <a:t> / resident committee </a:t>
            </a:r>
            <a:r>
              <a:rPr sz="1100" dirty="0" err="1">
                <a:solidFill>
                  <a:srgbClr val="64748B"/>
                </a:solidFill>
                <a:latin typeface="Arial"/>
              </a:rPr>
              <a:t>apartemen</a:t>
            </a:r>
            <a:r>
              <a:rPr sz="1100" dirty="0">
                <a:solidFill>
                  <a:srgbClr val="64748B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64748B"/>
                </a:solidFill>
                <a:latin typeface="Arial"/>
              </a:rPr>
              <a:t>bertingkat</a:t>
            </a:r>
            <a:r>
              <a:rPr sz="1100" dirty="0">
                <a:solidFill>
                  <a:srgbClr val="64748B"/>
                </a:solidFill>
                <a:latin typeface="Arial"/>
              </a:rPr>
              <a:t>.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8FEAEDED-3124-EBEF-B025-1481DFD0A3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2054407"/>
            <a:ext cx="5932628" cy="370789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864600" y="404403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dirty="0">
                <a:solidFill>
                  <a:srgbClr val="059669"/>
                </a:solidFill>
                <a:latin typeface="Arial Black"/>
              </a:rPr>
              <a:t>♻️ RUBBISH APP</a:t>
            </a:r>
            <a:r>
              <a:rPr sz="1100" dirty="0">
                <a:solidFill>
                  <a:srgbClr val="64748B"/>
                </a:solidFill>
                <a:latin typeface="Arial"/>
              </a:rPr>
              <a:t> • USER MANUAL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7332" y="416052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0D9488"/>
                </a:solidFill>
                <a:latin typeface="Arial"/>
              </a:rPr>
              <a:t>REGISTRASI AKUN BARU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7332" y="745236"/>
            <a:ext cx="7772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 dirty="0">
                <a:solidFill>
                  <a:srgbClr val="0F172A"/>
                </a:solidFill>
                <a:latin typeface="Arial Black"/>
              </a:rPr>
              <a:t>Step 02: </a:t>
            </a:r>
            <a:r>
              <a:rPr sz="2200" b="1" dirty="0" err="1">
                <a:solidFill>
                  <a:srgbClr val="0F172A"/>
                </a:solidFill>
                <a:latin typeface="Arial Black"/>
              </a:rPr>
              <a:t>Pengisian</a:t>
            </a:r>
            <a:r>
              <a:rPr sz="2200" b="1" dirty="0">
                <a:solidFill>
                  <a:srgbClr val="0F172A"/>
                </a:solidFill>
                <a:latin typeface="Arial Black"/>
              </a:rPr>
              <a:t> Data &amp; </a:t>
            </a:r>
            <a:r>
              <a:rPr sz="2200" b="1" dirty="0" err="1">
                <a:solidFill>
                  <a:srgbClr val="0F172A"/>
                </a:solidFill>
                <a:latin typeface="Arial Black"/>
              </a:rPr>
              <a:t>Validasi</a:t>
            </a:r>
            <a:r>
              <a:rPr sz="2200" b="1" dirty="0">
                <a:solidFill>
                  <a:srgbClr val="0F172A"/>
                </a:solidFill>
                <a:latin typeface="Arial Black"/>
              </a:rPr>
              <a:t> Akun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1463040" cy="32004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 dirty="0">
                <a:solidFill>
                  <a:srgbClr val="FFFFFF"/>
                </a:solidFill>
                <a:latin typeface="Arial"/>
              </a:rPr>
              <a:t>LANGKAH 2</a:t>
            </a:r>
          </a:p>
        </p:txBody>
      </p:sp>
      <p:sp>
        <p:nvSpPr>
          <p:cNvPr id="7" name="Oval 6"/>
          <p:cNvSpPr/>
          <p:nvPr/>
        </p:nvSpPr>
        <p:spPr>
          <a:xfrm>
            <a:off x="11155680" y="822960"/>
            <a:ext cx="54864" cy="548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301984" y="822960"/>
            <a:ext cx="54864" cy="548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1448288" y="822960"/>
            <a:ext cx="54864" cy="548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1594592" y="822960"/>
            <a:ext cx="54864" cy="548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1155680" y="969264"/>
            <a:ext cx="54864" cy="548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1301984" y="969264"/>
            <a:ext cx="54864" cy="548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1448288" y="969264"/>
            <a:ext cx="54864" cy="548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1594592" y="969264"/>
            <a:ext cx="54864" cy="548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1155680" y="1115568"/>
            <a:ext cx="54864" cy="548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1301984" y="1115568"/>
            <a:ext cx="54864" cy="548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1448288" y="1115568"/>
            <a:ext cx="54864" cy="548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1594592" y="1115568"/>
            <a:ext cx="54864" cy="548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748B"/>
                </a:solidFill>
                <a:latin typeface="Arial"/>
              </a:rPr>
              <a:t>Rubbish Digital Platform • www.rubbish.app • Panduan Resmi Pengguna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059669"/>
                </a:solidFill>
                <a:latin typeface="Arial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1753544"/>
            <a:ext cx="4495935" cy="44850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2400" b="1" dirty="0" err="1">
                <a:solidFill>
                  <a:srgbClr val="0F172A"/>
                </a:solidFill>
                <a:latin typeface="Arial"/>
              </a:rPr>
              <a:t>Petunjuk</a:t>
            </a:r>
            <a:r>
              <a:rPr sz="2400" b="1" dirty="0">
                <a:solidFill>
                  <a:srgbClr val="0F172A"/>
                </a:solidFill>
                <a:latin typeface="Arial"/>
              </a:rPr>
              <a:t> </a:t>
            </a:r>
            <a:r>
              <a:rPr sz="2400" b="1" dirty="0" err="1">
                <a:solidFill>
                  <a:srgbClr val="0F172A"/>
                </a:solidFill>
                <a:latin typeface="Arial"/>
              </a:rPr>
              <a:t>Pengisian</a:t>
            </a:r>
            <a:r>
              <a:rPr sz="2400" b="1" dirty="0">
                <a:solidFill>
                  <a:srgbClr val="0F172A"/>
                </a:solidFill>
                <a:latin typeface="Arial"/>
              </a:rPr>
              <a:t> </a:t>
            </a:r>
            <a:r>
              <a:rPr sz="2400" b="1" dirty="0" err="1">
                <a:solidFill>
                  <a:srgbClr val="0F172A"/>
                </a:solidFill>
                <a:latin typeface="Arial"/>
              </a:rPr>
              <a:t>Formulir</a:t>
            </a:r>
            <a:r>
              <a:rPr sz="2400" b="1" dirty="0">
                <a:solidFill>
                  <a:srgbClr val="0F172A"/>
                </a:solidFill>
                <a:latin typeface="Arial"/>
              </a:rPr>
              <a:t>:</a:t>
            </a:r>
          </a:p>
          <a:p>
            <a:pPr>
              <a:lnSpc>
                <a:spcPct val="150000"/>
              </a:lnSpc>
              <a:spcBef>
                <a:spcPts val="1000"/>
              </a:spcBef>
            </a:pPr>
            <a:r>
              <a:rPr sz="1600" b="1" dirty="0">
                <a:solidFill>
                  <a:srgbClr val="059669"/>
                </a:solidFill>
                <a:latin typeface="Arial"/>
              </a:rPr>
              <a:t>1. </a:t>
            </a:r>
            <a:r>
              <a:rPr sz="1600" b="1" dirty="0" err="1">
                <a:solidFill>
                  <a:srgbClr val="059669"/>
                </a:solidFill>
                <a:latin typeface="Arial"/>
              </a:rPr>
              <a:t>Nomor</a:t>
            </a:r>
            <a:r>
              <a:rPr sz="1600" b="1" dirty="0">
                <a:solidFill>
                  <a:srgbClr val="059669"/>
                </a:solidFill>
                <a:latin typeface="Arial"/>
              </a:rPr>
              <a:t> </a:t>
            </a:r>
            <a:r>
              <a:rPr sz="1600" b="1" dirty="0" err="1">
                <a:solidFill>
                  <a:srgbClr val="059669"/>
                </a:solidFill>
                <a:latin typeface="Arial"/>
              </a:rPr>
              <a:t>Identitas</a:t>
            </a:r>
            <a:r>
              <a:rPr sz="1600" b="1" dirty="0">
                <a:solidFill>
                  <a:srgbClr val="059669"/>
                </a:solidFill>
                <a:latin typeface="Arial"/>
              </a:rPr>
              <a:t> — </a:t>
            </a:r>
            <a:r>
              <a:rPr sz="1200" dirty="0">
                <a:solidFill>
                  <a:srgbClr val="64748B"/>
                </a:solidFill>
                <a:latin typeface="Arial"/>
              </a:rPr>
              <a:t>Masukkan NIK / NPSN / NIB </a:t>
            </a:r>
            <a:r>
              <a:rPr sz="1200" dirty="0" err="1">
                <a:solidFill>
                  <a:srgbClr val="64748B"/>
                </a:solidFill>
                <a:latin typeface="Arial"/>
              </a:rPr>
              <a:t>sesuai</a:t>
            </a:r>
            <a:r>
              <a:rPr sz="1200" dirty="0">
                <a:solidFill>
                  <a:srgbClr val="64748B"/>
                </a:solidFill>
                <a:latin typeface="Arial"/>
              </a:rPr>
              <a:t> format digit yang </a:t>
            </a:r>
            <a:r>
              <a:rPr sz="1200" dirty="0" err="1">
                <a:solidFill>
                  <a:srgbClr val="64748B"/>
                </a:solidFill>
                <a:latin typeface="Arial"/>
              </a:rPr>
              <a:t>diwajibkan</a:t>
            </a:r>
            <a:r>
              <a:rPr sz="1200" dirty="0">
                <a:solidFill>
                  <a:srgbClr val="64748B"/>
                </a:solidFill>
                <a:latin typeface="Arial"/>
              </a:rPr>
              <a:t>.</a:t>
            </a:r>
          </a:p>
          <a:p>
            <a:pPr>
              <a:lnSpc>
                <a:spcPct val="150000"/>
              </a:lnSpc>
              <a:spcBef>
                <a:spcPts val="1000"/>
              </a:spcBef>
            </a:pPr>
            <a:r>
              <a:rPr sz="1600" b="1" dirty="0">
                <a:solidFill>
                  <a:srgbClr val="059669"/>
                </a:solidFill>
                <a:latin typeface="Arial"/>
              </a:rPr>
              <a:t>2. Nama </a:t>
            </a:r>
            <a:r>
              <a:rPr sz="1600" b="1" dirty="0" err="1">
                <a:solidFill>
                  <a:srgbClr val="059669"/>
                </a:solidFill>
                <a:latin typeface="Arial"/>
              </a:rPr>
              <a:t>Lengkap</a:t>
            </a:r>
            <a:r>
              <a:rPr sz="1600" b="1" dirty="0">
                <a:solidFill>
                  <a:srgbClr val="059669"/>
                </a:solidFill>
                <a:latin typeface="Arial"/>
              </a:rPr>
              <a:t> / </a:t>
            </a:r>
            <a:r>
              <a:rPr sz="1600" b="1" dirty="0" err="1">
                <a:solidFill>
                  <a:srgbClr val="059669"/>
                </a:solidFill>
                <a:latin typeface="Arial"/>
              </a:rPr>
              <a:t>Instansi</a:t>
            </a:r>
            <a:r>
              <a:rPr sz="1600" b="1" dirty="0">
                <a:solidFill>
                  <a:srgbClr val="059669"/>
                </a:solidFill>
                <a:latin typeface="Arial"/>
              </a:rPr>
              <a:t> — </a:t>
            </a:r>
            <a:r>
              <a:rPr sz="1200" dirty="0" err="1">
                <a:solidFill>
                  <a:srgbClr val="64748B"/>
                </a:solidFill>
                <a:latin typeface="Arial"/>
              </a:rPr>
              <a:t>Tuliskan</a:t>
            </a:r>
            <a:r>
              <a:rPr sz="1200" dirty="0">
                <a:solidFill>
                  <a:srgbClr val="64748B"/>
                </a:solidFill>
                <a:latin typeface="Arial"/>
              </a:rPr>
              <a:t> nama </a:t>
            </a:r>
            <a:r>
              <a:rPr sz="1200" dirty="0" err="1">
                <a:solidFill>
                  <a:srgbClr val="64748B"/>
                </a:solidFill>
                <a:latin typeface="Arial"/>
              </a:rPr>
              <a:t>perwakilan</a:t>
            </a:r>
            <a:r>
              <a:rPr sz="1200" dirty="0">
                <a:solidFill>
                  <a:srgbClr val="64748B"/>
                </a:solidFill>
                <a:latin typeface="Arial"/>
              </a:rPr>
              <a:t> </a:t>
            </a:r>
            <a:r>
              <a:rPr sz="1200" dirty="0" err="1">
                <a:solidFill>
                  <a:srgbClr val="64748B"/>
                </a:solidFill>
                <a:latin typeface="Arial"/>
              </a:rPr>
              <a:t>atau</a:t>
            </a:r>
            <a:r>
              <a:rPr sz="1200" dirty="0">
                <a:solidFill>
                  <a:srgbClr val="64748B"/>
                </a:solidFill>
                <a:latin typeface="Arial"/>
              </a:rPr>
              <a:t> nama </a:t>
            </a:r>
            <a:r>
              <a:rPr sz="1200" dirty="0" err="1">
                <a:solidFill>
                  <a:srgbClr val="64748B"/>
                </a:solidFill>
                <a:latin typeface="Arial"/>
              </a:rPr>
              <a:t>resmi</a:t>
            </a:r>
            <a:r>
              <a:rPr sz="1200" dirty="0">
                <a:solidFill>
                  <a:srgbClr val="64748B"/>
                </a:solidFill>
                <a:latin typeface="Arial"/>
              </a:rPr>
              <a:t> </a:t>
            </a:r>
            <a:r>
              <a:rPr sz="1200" dirty="0" err="1">
                <a:solidFill>
                  <a:srgbClr val="64748B"/>
                </a:solidFill>
                <a:latin typeface="Arial"/>
              </a:rPr>
              <a:t>instansi</a:t>
            </a:r>
            <a:r>
              <a:rPr sz="1200" dirty="0">
                <a:solidFill>
                  <a:srgbClr val="64748B"/>
                </a:solidFill>
                <a:latin typeface="Arial"/>
              </a:rPr>
              <a:t>/</a:t>
            </a:r>
            <a:r>
              <a:rPr sz="1200" dirty="0" err="1">
                <a:solidFill>
                  <a:srgbClr val="64748B"/>
                </a:solidFill>
                <a:latin typeface="Arial"/>
              </a:rPr>
              <a:t>perusahaan</a:t>
            </a:r>
            <a:r>
              <a:rPr sz="1200" dirty="0">
                <a:solidFill>
                  <a:srgbClr val="64748B"/>
                </a:solidFill>
                <a:latin typeface="Arial"/>
              </a:rPr>
              <a:t>.</a:t>
            </a:r>
          </a:p>
          <a:p>
            <a:pPr>
              <a:lnSpc>
                <a:spcPct val="150000"/>
              </a:lnSpc>
              <a:spcBef>
                <a:spcPts val="1000"/>
              </a:spcBef>
            </a:pPr>
            <a:r>
              <a:rPr sz="1600" b="1" dirty="0">
                <a:solidFill>
                  <a:srgbClr val="059669"/>
                </a:solidFill>
                <a:latin typeface="Arial"/>
              </a:rPr>
              <a:t>3. Email &amp; No. WhatsApp — </a:t>
            </a:r>
            <a:r>
              <a:rPr sz="1200" dirty="0" err="1">
                <a:solidFill>
                  <a:srgbClr val="64748B"/>
                </a:solidFill>
                <a:latin typeface="Arial"/>
              </a:rPr>
              <a:t>Pastikan</a:t>
            </a:r>
            <a:r>
              <a:rPr sz="1200" dirty="0">
                <a:solidFill>
                  <a:srgbClr val="64748B"/>
                </a:solidFill>
                <a:latin typeface="Arial"/>
              </a:rPr>
              <a:t> email dan </a:t>
            </a:r>
            <a:r>
              <a:rPr sz="1200" dirty="0" err="1">
                <a:solidFill>
                  <a:srgbClr val="64748B"/>
                </a:solidFill>
                <a:latin typeface="Arial"/>
              </a:rPr>
              <a:t>nomor</a:t>
            </a:r>
            <a:r>
              <a:rPr sz="1200" dirty="0">
                <a:solidFill>
                  <a:srgbClr val="64748B"/>
                </a:solidFill>
                <a:latin typeface="Arial"/>
              </a:rPr>
              <a:t> WA </a:t>
            </a:r>
            <a:r>
              <a:rPr sz="1200" dirty="0" err="1">
                <a:solidFill>
                  <a:srgbClr val="64748B"/>
                </a:solidFill>
                <a:latin typeface="Arial"/>
              </a:rPr>
              <a:t>aktif</a:t>
            </a:r>
            <a:r>
              <a:rPr sz="1200" dirty="0">
                <a:solidFill>
                  <a:srgbClr val="64748B"/>
                </a:solidFill>
                <a:latin typeface="Arial"/>
              </a:rPr>
              <a:t> </a:t>
            </a:r>
            <a:r>
              <a:rPr sz="1200" dirty="0" err="1">
                <a:solidFill>
                  <a:srgbClr val="64748B"/>
                </a:solidFill>
                <a:latin typeface="Arial"/>
              </a:rPr>
              <a:t>untuk</a:t>
            </a:r>
            <a:r>
              <a:rPr sz="1200" dirty="0">
                <a:solidFill>
                  <a:srgbClr val="64748B"/>
                </a:solidFill>
                <a:latin typeface="Arial"/>
              </a:rPr>
              <a:t> </a:t>
            </a:r>
            <a:r>
              <a:rPr sz="1200" dirty="0" err="1">
                <a:solidFill>
                  <a:srgbClr val="64748B"/>
                </a:solidFill>
                <a:latin typeface="Arial"/>
              </a:rPr>
              <a:t>notifikasi</a:t>
            </a:r>
            <a:r>
              <a:rPr sz="1200" dirty="0">
                <a:solidFill>
                  <a:srgbClr val="64748B"/>
                </a:solidFill>
                <a:latin typeface="Arial"/>
              </a:rPr>
              <a:t> status </a:t>
            </a:r>
            <a:r>
              <a:rPr sz="1200" dirty="0" err="1">
                <a:solidFill>
                  <a:srgbClr val="64748B"/>
                </a:solidFill>
                <a:latin typeface="Arial"/>
              </a:rPr>
              <a:t>jemput</a:t>
            </a:r>
            <a:r>
              <a:rPr sz="1200" dirty="0">
                <a:solidFill>
                  <a:srgbClr val="64748B"/>
                </a:solidFill>
                <a:latin typeface="Arial"/>
              </a:rPr>
              <a:t> </a:t>
            </a:r>
            <a:r>
              <a:rPr sz="1200" dirty="0" err="1">
                <a:solidFill>
                  <a:srgbClr val="64748B"/>
                </a:solidFill>
                <a:latin typeface="Arial"/>
              </a:rPr>
              <a:t>sampah</a:t>
            </a:r>
            <a:r>
              <a:rPr sz="1200" dirty="0">
                <a:solidFill>
                  <a:srgbClr val="64748B"/>
                </a:solidFill>
                <a:latin typeface="Arial"/>
              </a:rPr>
              <a:t>.</a:t>
            </a:r>
          </a:p>
          <a:p>
            <a:pPr>
              <a:lnSpc>
                <a:spcPct val="150000"/>
              </a:lnSpc>
              <a:spcBef>
                <a:spcPts val="1000"/>
              </a:spcBef>
            </a:pPr>
            <a:r>
              <a:rPr sz="1600" b="1" dirty="0">
                <a:solidFill>
                  <a:srgbClr val="059669"/>
                </a:solidFill>
                <a:latin typeface="Arial"/>
              </a:rPr>
              <a:t>4. Kata Sandi — </a:t>
            </a:r>
            <a:r>
              <a:rPr sz="1200" dirty="0" err="1">
                <a:solidFill>
                  <a:srgbClr val="64748B"/>
                </a:solidFill>
                <a:latin typeface="Arial"/>
              </a:rPr>
              <a:t>Buat</a:t>
            </a:r>
            <a:r>
              <a:rPr sz="1200" dirty="0">
                <a:solidFill>
                  <a:srgbClr val="64748B"/>
                </a:solidFill>
                <a:latin typeface="Arial"/>
              </a:rPr>
              <a:t> kata </a:t>
            </a:r>
            <a:r>
              <a:rPr sz="1200" dirty="0" err="1">
                <a:solidFill>
                  <a:srgbClr val="64748B"/>
                </a:solidFill>
                <a:latin typeface="Arial"/>
              </a:rPr>
              <a:t>sandi</a:t>
            </a:r>
            <a:r>
              <a:rPr sz="1200" dirty="0">
                <a:solidFill>
                  <a:srgbClr val="64748B"/>
                </a:solidFill>
                <a:latin typeface="Arial"/>
              </a:rPr>
              <a:t> minimal 6 </a:t>
            </a:r>
            <a:r>
              <a:rPr sz="1200" dirty="0" err="1">
                <a:solidFill>
                  <a:srgbClr val="64748B"/>
                </a:solidFill>
                <a:latin typeface="Arial"/>
              </a:rPr>
              <a:t>karakter</a:t>
            </a:r>
            <a:r>
              <a:rPr sz="1200" dirty="0">
                <a:solidFill>
                  <a:srgbClr val="64748B"/>
                </a:solidFill>
                <a:latin typeface="Arial"/>
              </a:rPr>
              <a:t> </a:t>
            </a:r>
            <a:r>
              <a:rPr sz="1200" dirty="0" err="1">
                <a:solidFill>
                  <a:srgbClr val="64748B"/>
                </a:solidFill>
                <a:latin typeface="Arial"/>
              </a:rPr>
              <a:t>kombinasi</a:t>
            </a:r>
            <a:r>
              <a:rPr sz="1200" dirty="0">
                <a:solidFill>
                  <a:srgbClr val="64748B"/>
                </a:solidFill>
                <a:latin typeface="Arial"/>
              </a:rPr>
              <a:t> </a:t>
            </a:r>
            <a:r>
              <a:rPr sz="1200" dirty="0" err="1">
                <a:solidFill>
                  <a:srgbClr val="64748B"/>
                </a:solidFill>
                <a:latin typeface="Arial"/>
              </a:rPr>
              <a:t>huruf</a:t>
            </a:r>
            <a:r>
              <a:rPr sz="1200" dirty="0">
                <a:solidFill>
                  <a:srgbClr val="64748B"/>
                </a:solidFill>
                <a:latin typeface="Arial"/>
              </a:rPr>
              <a:t> dan </a:t>
            </a:r>
            <a:r>
              <a:rPr sz="1200" dirty="0" err="1">
                <a:solidFill>
                  <a:srgbClr val="64748B"/>
                </a:solidFill>
                <a:latin typeface="Arial"/>
              </a:rPr>
              <a:t>angka</a:t>
            </a:r>
            <a:r>
              <a:rPr sz="1200" dirty="0">
                <a:solidFill>
                  <a:srgbClr val="64748B"/>
                </a:solidFill>
                <a:latin typeface="Arial"/>
              </a:rPr>
              <a:t>.</a:t>
            </a:r>
          </a:p>
          <a:p>
            <a:pPr>
              <a:lnSpc>
                <a:spcPct val="150000"/>
              </a:lnSpc>
              <a:spcBef>
                <a:spcPts val="1000"/>
              </a:spcBef>
            </a:pPr>
            <a:r>
              <a:rPr sz="1600" b="1" dirty="0">
                <a:solidFill>
                  <a:srgbClr val="059669"/>
                </a:solidFill>
                <a:latin typeface="Arial"/>
              </a:rPr>
              <a:t>5. </a:t>
            </a:r>
            <a:r>
              <a:rPr sz="1600" b="1" dirty="0" err="1">
                <a:solidFill>
                  <a:srgbClr val="059669"/>
                </a:solidFill>
                <a:latin typeface="Arial"/>
              </a:rPr>
              <a:t>Klik</a:t>
            </a:r>
            <a:r>
              <a:rPr sz="1600" b="1" dirty="0">
                <a:solidFill>
                  <a:srgbClr val="059669"/>
                </a:solidFill>
                <a:latin typeface="Arial"/>
              </a:rPr>
              <a:t> 'Daftar' — </a:t>
            </a:r>
            <a:r>
              <a:rPr sz="1200" dirty="0" err="1">
                <a:solidFill>
                  <a:srgbClr val="64748B"/>
                </a:solidFill>
                <a:latin typeface="Arial"/>
              </a:rPr>
              <a:t>Setelah</a:t>
            </a:r>
            <a:r>
              <a:rPr sz="1200" dirty="0">
                <a:solidFill>
                  <a:srgbClr val="64748B"/>
                </a:solidFill>
                <a:latin typeface="Arial"/>
              </a:rPr>
              <a:t> </a:t>
            </a:r>
            <a:r>
              <a:rPr sz="1200" dirty="0" err="1">
                <a:solidFill>
                  <a:srgbClr val="64748B"/>
                </a:solidFill>
                <a:latin typeface="Arial"/>
              </a:rPr>
              <a:t>selesai</a:t>
            </a:r>
            <a:r>
              <a:rPr sz="1200" dirty="0">
                <a:solidFill>
                  <a:srgbClr val="64748B"/>
                </a:solidFill>
                <a:latin typeface="Arial"/>
              </a:rPr>
              <a:t>, </a:t>
            </a:r>
            <a:r>
              <a:rPr sz="1200" dirty="0" err="1">
                <a:solidFill>
                  <a:srgbClr val="64748B"/>
                </a:solidFill>
                <a:latin typeface="Arial"/>
              </a:rPr>
              <a:t>sistem</a:t>
            </a:r>
            <a:r>
              <a:rPr sz="1200" dirty="0">
                <a:solidFill>
                  <a:srgbClr val="64748B"/>
                </a:solidFill>
                <a:latin typeface="Arial"/>
              </a:rPr>
              <a:t> </a:t>
            </a:r>
            <a:r>
              <a:rPr sz="1200" dirty="0" err="1">
                <a:solidFill>
                  <a:srgbClr val="64748B"/>
                </a:solidFill>
                <a:latin typeface="Arial"/>
              </a:rPr>
              <a:t>akan</a:t>
            </a:r>
            <a:r>
              <a:rPr sz="1200" dirty="0">
                <a:solidFill>
                  <a:srgbClr val="64748B"/>
                </a:solidFill>
                <a:latin typeface="Arial"/>
              </a:rPr>
              <a:t> </a:t>
            </a:r>
            <a:r>
              <a:rPr sz="1200" dirty="0" err="1">
                <a:solidFill>
                  <a:srgbClr val="64748B"/>
                </a:solidFill>
                <a:latin typeface="Arial"/>
              </a:rPr>
              <a:t>mengarahkan</a:t>
            </a:r>
            <a:r>
              <a:rPr sz="1200" dirty="0">
                <a:solidFill>
                  <a:srgbClr val="64748B"/>
                </a:solidFill>
                <a:latin typeface="Arial"/>
              </a:rPr>
              <a:t> Anda </a:t>
            </a:r>
            <a:r>
              <a:rPr sz="1200" dirty="0" err="1">
                <a:solidFill>
                  <a:srgbClr val="64748B"/>
                </a:solidFill>
                <a:latin typeface="Arial"/>
              </a:rPr>
              <a:t>ke</a:t>
            </a:r>
            <a:r>
              <a:rPr sz="1200" dirty="0">
                <a:solidFill>
                  <a:srgbClr val="64748B"/>
                </a:solidFill>
                <a:latin typeface="Arial"/>
              </a:rPr>
              <a:t> </a:t>
            </a:r>
            <a:r>
              <a:rPr sz="1200" dirty="0" err="1">
                <a:solidFill>
                  <a:srgbClr val="64748B"/>
                </a:solidFill>
                <a:latin typeface="Arial"/>
              </a:rPr>
              <a:t>halaman</a:t>
            </a:r>
            <a:r>
              <a:rPr sz="1200" dirty="0">
                <a:solidFill>
                  <a:srgbClr val="64748B"/>
                </a:solidFill>
                <a:latin typeface="Arial"/>
              </a:rPr>
              <a:t> login.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D3170133-2815-5C0B-9E83-9FF7D5F566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7481" y="1989258"/>
            <a:ext cx="5744503" cy="359031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821554" y="451324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dirty="0">
                <a:solidFill>
                  <a:srgbClr val="059669"/>
                </a:solidFill>
                <a:latin typeface="Arial Black"/>
              </a:rPr>
              <a:t>♻️ RUBBISH APP</a:t>
            </a:r>
            <a:r>
              <a:rPr sz="1100" dirty="0">
                <a:solidFill>
                  <a:srgbClr val="64748B"/>
                </a:solidFill>
                <a:latin typeface="Arial"/>
              </a:rPr>
              <a:t> • USER MANUAL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672" y="513114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0D9488"/>
                </a:solidFill>
                <a:latin typeface="Arial"/>
              </a:rPr>
              <a:t>AUTENTIKASI &amp; KEAMANAN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1275" y="949229"/>
            <a:ext cx="7772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 dirty="0">
                <a:solidFill>
                  <a:srgbClr val="0F172A"/>
                </a:solidFill>
                <a:latin typeface="Arial Black"/>
              </a:rPr>
              <a:t>Cara Masuk (Login) </a:t>
            </a:r>
            <a:r>
              <a:rPr sz="2200" b="1" dirty="0" err="1">
                <a:solidFill>
                  <a:srgbClr val="0F172A"/>
                </a:solidFill>
                <a:latin typeface="Arial Black"/>
              </a:rPr>
              <a:t>ke</a:t>
            </a:r>
            <a:r>
              <a:rPr sz="2200" b="1" dirty="0">
                <a:solidFill>
                  <a:srgbClr val="0F172A"/>
                </a:solidFill>
                <a:latin typeface="Arial Black"/>
              </a:rPr>
              <a:t> Akun Rubbish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45235"/>
            <a:ext cx="1463040" cy="32004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 dirty="0">
                <a:solidFill>
                  <a:srgbClr val="FFFFFF"/>
                </a:solidFill>
                <a:latin typeface="Arial"/>
              </a:rPr>
              <a:t>AKSES MASUK</a:t>
            </a:r>
          </a:p>
        </p:txBody>
      </p:sp>
      <p:sp>
        <p:nvSpPr>
          <p:cNvPr id="7" name="Oval 6"/>
          <p:cNvSpPr/>
          <p:nvPr/>
        </p:nvSpPr>
        <p:spPr>
          <a:xfrm>
            <a:off x="11155680" y="822960"/>
            <a:ext cx="54864" cy="548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301984" y="822960"/>
            <a:ext cx="54864" cy="548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1448288" y="822960"/>
            <a:ext cx="54864" cy="548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1594592" y="822960"/>
            <a:ext cx="54864" cy="548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1155680" y="969264"/>
            <a:ext cx="54864" cy="548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1301984" y="969264"/>
            <a:ext cx="54864" cy="548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1448288" y="969264"/>
            <a:ext cx="54864" cy="548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1594592" y="969264"/>
            <a:ext cx="54864" cy="548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1155680" y="1115568"/>
            <a:ext cx="54864" cy="548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1301984" y="1115568"/>
            <a:ext cx="54864" cy="548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1448288" y="1115568"/>
            <a:ext cx="54864" cy="548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1594592" y="1115568"/>
            <a:ext cx="54864" cy="548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748B"/>
                </a:solidFill>
                <a:latin typeface="Arial"/>
              </a:rPr>
              <a:t>Rubbish Digital Platform • www.rubbish.app • Panduan Resmi Pengguna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059669"/>
                </a:solidFill>
                <a:latin typeface="Arial"/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2090133"/>
            <a:ext cx="4533499" cy="39446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dirty="0">
                <a:solidFill>
                  <a:srgbClr val="0F172A"/>
                </a:solidFill>
                <a:latin typeface="Arial"/>
              </a:rPr>
              <a:t>Langkah-Langkah Login:</a:t>
            </a:r>
          </a:p>
          <a:p>
            <a:pPr>
              <a:spcBef>
                <a:spcPts val="1000"/>
              </a:spcBef>
            </a:pPr>
            <a:r>
              <a:rPr sz="1400" b="1" dirty="0">
                <a:solidFill>
                  <a:srgbClr val="0D9488"/>
                </a:solidFill>
                <a:latin typeface="Arial"/>
              </a:rPr>
              <a:t>1. Akses Halaman Login
</a:t>
            </a:r>
            <a:r>
              <a:rPr sz="1100" dirty="0" err="1">
                <a:solidFill>
                  <a:srgbClr val="64748B"/>
                </a:solidFill>
                <a:latin typeface="Arial"/>
              </a:rPr>
              <a:t>Klik</a:t>
            </a:r>
            <a:r>
              <a:rPr sz="1100" dirty="0">
                <a:solidFill>
                  <a:srgbClr val="64748B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64748B"/>
                </a:solidFill>
                <a:latin typeface="Arial"/>
              </a:rPr>
              <a:t>tombol</a:t>
            </a:r>
            <a:r>
              <a:rPr sz="1100" dirty="0">
                <a:solidFill>
                  <a:srgbClr val="64748B"/>
                </a:solidFill>
                <a:latin typeface="Arial"/>
              </a:rPr>
              <a:t> 'Masuk' pada </a:t>
            </a:r>
            <a:r>
              <a:rPr sz="1100" dirty="0" err="1">
                <a:solidFill>
                  <a:srgbClr val="64748B"/>
                </a:solidFill>
                <a:latin typeface="Arial"/>
              </a:rPr>
              <a:t>pojok</a:t>
            </a:r>
            <a:r>
              <a:rPr sz="1100" dirty="0">
                <a:solidFill>
                  <a:srgbClr val="64748B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64748B"/>
                </a:solidFill>
                <a:latin typeface="Arial"/>
              </a:rPr>
              <a:t>kanan</a:t>
            </a:r>
            <a:r>
              <a:rPr sz="1100" dirty="0">
                <a:solidFill>
                  <a:srgbClr val="64748B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64748B"/>
                </a:solidFill>
                <a:latin typeface="Arial"/>
              </a:rPr>
              <a:t>atas</a:t>
            </a:r>
            <a:r>
              <a:rPr sz="1100" dirty="0">
                <a:solidFill>
                  <a:srgbClr val="64748B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64748B"/>
                </a:solidFill>
                <a:latin typeface="Arial"/>
              </a:rPr>
              <a:t>beranda</a:t>
            </a:r>
            <a:r>
              <a:rPr sz="1100" dirty="0">
                <a:solidFill>
                  <a:srgbClr val="64748B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64748B"/>
                </a:solidFill>
                <a:latin typeface="Arial"/>
              </a:rPr>
              <a:t>atau</a:t>
            </a:r>
            <a:r>
              <a:rPr sz="1100" dirty="0">
                <a:solidFill>
                  <a:srgbClr val="64748B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64748B"/>
                </a:solidFill>
                <a:latin typeface="Arial"/>
              </a:rPr>
              <a:t>buka</a:t>
            </a:r>
            <a:r>
              <a:rPr sz="1100" dirty="0">
                <a:solidFill>
                  <a:srgbClr val="64748B"/>
                </a:solidFill>
                <a:latin typeface="Arial"/>
              </a:rPr>
              <a:t> /login.</a:t>
            </a:r>
          </a:p>
          <a:p>
            <a:pPr>
              <a:spcBef>
                <a:spcPts val="1000"/>
              </a:spcBef>
            </a:pPr>
            <a:r>
              <a:rPr sz="1400" b="1" dirty="0">
                <a:solidFill>
                  <a:srgbClr val="0D9488"/>
                </a:solidFill>
                <a:latin typeface="Arial"/>
              </a:rPr>
              <a:t>2. Masukkan </a:t>
            </a:r>
            <a:r>
              <a:rPr sz="1400" b="1" dirty="0" err="1">
                <a:solidFill>
                  <a:srgbClr val="0D9488"/>
                </a:solidFill>
                <a:latin typeface="Arial"/>
              </a:rPr>
              <a:t>Kredensial</a:t>
            </a:r>
            <a:r>
              <a:rPr sz="1400" b="1" dirty="0">
                <a:solidFill>
                  <a:srgbClr val="0D9488"/>
                </a:solidFill>
                <a:latin typeface="Arial"/>
              </a:rPr>
              <a:t>
</a:t>
            </a:r>
            <a:r>
              <a:rPr sz="1100" dirty="0" err="1">
                <a:solidFill>
                  <a:srgbClr val="64748B"/>
                </a:solidFill>
                <a:latin typeface="Arial"/>
              </a:rPr>
              <a:t>Ketikkan</a:t>
            </a:r>
            <a:r>
              <a:rPr sz="1100" dirty="0">
                <a:solidFill>
                  <a:srgbClr val="64748B"/>
                </a:solidFill>
                <a:latin typeface="Arial"/>
              </a:rPr>
              <a:t> Alamat Email dan Kata Sandi yang </a:t>
            </a:r>
            <a:r>
              <a:rPr sz="1100" dirty="0" err="1">
                <a:solidFill>
                  <a:srgbClr val="64748B"/>
                </a:solidFill>
                <a:latin typeface="Arial"/>
              </a:rPr>
              <a:t>telah</a:t>
            </a:r>
            <a:r>
              <a:rPr sz="1100" dirty="0">
                <a:solidFill>
                  <a:srgbClr val="64748B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64748B"/>
                </a:solidFill>
                <a:latin typeface="Arial"/>
              </a:rPr>
              <a:t>didaftarkan</a:t>
            </a:r>
            <a:r>
              <a:rPr sz="1100" dirty="0">
                <a:solidFill>
                  <a:srgbClr val="64748B"/>
                </a:solidFill>
                <a:latin typeface="Arial"/>
              </a:rPr>
              <a:t>.</a:t>
            </a:r>
          </a:p>
          <a:p>
            <a:pPr>
              <a:spcBef>
                <a:spcPts val="1000"/>
              </a:spcBef>
            </a:pPr>
            <a:r>
              <a:rPr sz="1400" b="1" dirty="0">
                <a:solidFill>
                  <a:srgbClr val="0D9488"/>
                </a:solidFill>
                <a:latin typeface="Arial"/>
              </a:rPr>
              <a:t>3. </a:t>
            </a:r>
            <a:r>
              <a:rPr sz="1400" b="1" dirty="0" err="1">
                <a:solidFill>
                  <a:srgbClr val="0D9488"/>
                </a:solidFill>
                <a:latin typeface="Arial"/>
              </a:rPr>
              <a:t>Notifikasi</a:t>
            </a:r>
            <a:r>
              <a:rPr sz="1400" b="1" dirty="0">
                <a:solidFill>
                  <a:srgbClr val="0D9488"/>
                </a:solidFill>
                <a:latin typeface="Arial"/>
              </a:rPr>
              <a:t> </a:t>
            </a:r>
            <a:r>
              <a:rPr sz="1400" b="1" dirty="0" err="1">
                <a:solidFill>
                  <a:srgbClr val="0D9488"/>
                </a:solidFill>
                <a:latin typeface="Arial"/>
              </a:rPr>
              <a:t>Berhasil</a:t>
            </a:r>
            <a:r>
              <a:rPr sz="1400" b="1" dirty="0">
                <a:solidFill>
                  <a:srgbClr val="0D9488"/>
                </a:solidFill>
                <a:latin typeface="Arial"/>
              </a:rPr>
              <a:t>
</a:t>
            </a:r>
            <a:r>
              <a:rPr sz="1100" dirty="0">
                <a:solidFill>
                  <a:srgbClr val="64748B"/>
                </a:solidFill>
                <a:latin typeface="Arial"/>
              </a:rPr>
              <a:t>Jika </a:t>
            </a:r>
            <a:r>
              <a:rPr sz="1100" dirty="0" err="1">
                <a:solidFill>
                  <a:srgbClr val="64748B"/>
                </a:solidFill>
                <a:latin typeface="Arial"/>
              </a:rPr>
              <a:t>baru</a:t>
            </a:r>
            <a:r>
              <a:rPr sz="1100" dirty="0">
                <a:solidFill>
                  <a:srgbClr val="64748B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64748B"/>
                </a:solidFill>
                <a:latin typeface="Arial"/>
              </a:rPr>
              <a:t>saja</a:t>
            </a:r>
            <a:r>
              <a:rPr sz="1100" dirty="0">
                <a:solidFill>
                  <a:srgbClr val="64748B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64748B"/>
                </a:solidFill>
                <a:latin typeface="Arial"/>
              </a:rPr>
              <a:t>mendaftar</a:t>
            </a:r>
            <a:r>
              <a:rPr sz="1100" dirty="0">
                <a:solidFill>
                  <a:srgbClr val="64748B"/>
                </a:solidFill>
                <a:latin typeface="Arial"/>
              </a:rPr>
              <a:t>, </a:t>
            </a:r>
            <a:r>
              <a:rPr sz="1100" dirty="0" err="1">
                <a:solidFill>
                  <a:srgbClr val="64748B"/>
                </a:solidFill>
                <a:latin typeface="Arial"/>
              </a:rPr>
              <a:t>pesan</a:t>
            </a:r>
            <a:r>
              <a:rPr sz="1100" dirty="0">
                <a:solidFill>
                  <a:srgbClr val="64748B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64748B"/>
                </a:solidFill>
                <a:latin typeface="Arial"/>
              </a:rPr>
              <a:t>hijau</a:t>
            </a:r>
            <a:r>
              <a:rPr sz="1100" dirty="0">
                <a:solidFill>
                  <a:srgbClr val="64748B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64748B"/>
                </a:solidFill>
                <a:latin typeface="Arial"/>
              </a:rPr>
              <a:t>konfirmasi</a:t>
            </a:r>
            <a:r>
              <a:rPr sz="1100" dirty="0">
                <a:solidFill>
                  <a:srgbClr val="64748B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64748B"/>
                </a:solidFill>
                <a:latin typeface="Arial"/>
              </a:rPr>
              <a:t>sukses</a:t>
            </a:r>
            <a:r>
              <a:rPr sz="1100" dirty="0">
                <a:solidFill>
                  <a:srgbClr val="64748B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64748B"/>
                </a:solidFill>
                <a:latin typeface="Arial"/>
              </a:rPr>
              <a:t>akan</a:t>
            </a:r>
            <a:r>
              <a:rPr sz="1100" dirty="0">
                <a:solidFill>
                  <a:srgbClr val="64748B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64748B"/>
                </a:solidFill>
                <a:latin typeface="Arial"/>
              </a:rPr>
              <a:t>tampil</a:t>
            </a:r>
            <a:r>
              <a:rPr sz="1100" dirty="0">
                <a:solidFill>
                  <a:srgbClr val="64748B"/>
                </a:solidFill>
                <a:latin typeface="Arial"/>
              </a:rPr>
              <a:t> di </a:t>
            </a:r>
            <a:r>
              <a:rPr sz="1100" dirty="0" err="1">
                <a:solidFill>
                  <a:srgbClr val="64748B"/>
                </a:solidFill>
                <a:latin typeface="Arial"/>
              </a:rPr>
              <a:t>atas</a:t>
            </a:r>
            <a:r>
              <a:rPr sz="1100" dirty="0">
                <a:solidFill>
                  <a:srgbClr val="64748B"/>
                </a:solidFill>
                <a:latin typeface="Arial"/>
              </a:rPr>
              <a:t> form.</a:t>
            </a:r>
          </a:p>
          <a:p>
            <a:pPr>
              <a:spcBef>
                <a:spcPts val="1000"/>
              </a:spcBef>
            </a:pPr>
            <a:r>
              <a:rPr sz="1400" b="1" dirty="0">
                <a:solidFill>
                  <a:srgbClr val="0D9488"/>
                </a:solidFill>
                <a:latin typeface="Arial"/>
              </a:rPr>
              <a:t>4. Fitur Mode Gelap (Dark Mode)
</a:t>
            </a:r>
            <a:r>
              <a:rPr sz="1100" dirty="0" err="1">
                <a:solidFill>
                  <a:srgbClr val="64748B"/>
                </a:solidFill>
                <a:latin typeface="Arial"/>
              </a:rPr>
              <a:t>Klik</a:t>
            </a:r>
            <a:r>
              <a:rPr sz="1100" dirty="0">
                <a:solidFill>
                  <a:srgbClr val="64748B"/>
                </a:solidFill>
                <a:latin typeface="Arial"/>
              </a:rPr>
              <a:t> icon </a:t>
            </a:r>
            <a:r>
              <a:rPr sz="1100" dirty="0" err="1">
                <a:solidFill>
                  <a:srgbClr val="64748B"/>
                </a:solidFill>
                <a:latin typeface="Arial"/>
              </a:rPr>
              <a:t>matahari</a:t>
            </a:r>
            <a:r>
              <a:rPr sz="1100" dirty="0">
                <a:solidFill>
                  <a:srgbClr val="64748B"/>
                </a:solidFill>
                <a:latin typeface="Arial"/>
              </a:rPr>
              <a:t>/</a:t>
            </a:r>
            <a:r>
              <a:rPr sz="1100" dirty="0" err="1">
                <a:solidFill>
                  <a:srgbClr val="64748B"/>
                </a:solidFill>
                <a:latin typeface="Arial"/>
              </a:rPr>
              <a:t>bulan</a:t>
            </a:r>
            <a:r>
              <a:rPr sz="1100" dirty="0">
                <a:solidFill>
                  <a:srgbClr val="64748B"/>
                </a:solidFill>
                <a:latin typeface="Arial"/>
              </a:rPr>
              <a:t> di </a:t>
            </a:r>
            <a:r>
              <a:rPr sz="1100" dirty="0" err="1">
                <a:solidFill>
                  <a:srgbClr val="64748B"/>
                </a:solidFill>
                <a:latin typeface="Arial"/>
              </a:rPr>
              <a:t>sudut</a:t>
            </a:r>
            <a:r>
              <a:rPr sz="1100" dirty="0">
                <a:solidFill>
                  <a:srgbClr val="64748B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64748B"/>
                </a:solidFill>
                <a:latin typeface="Arial"/>
              </a:rPr>
              <a:t>kanan</a:t>
            </a:r>
            <a:r>
              <a:rPr sz="1100" dirty="0">
                <a:solidFill>
                  <a:srgbClr val="64748B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64748B"/>
                </a:solidFill>
                <a:latin typeface="Arial"/>
              </a:rPr>
              <a:t>atas</a:t>
            </a:r>
            <a:r>
              <a:rPr sz="1100" dirty="0">
                <a:solidFill>
                  <a:srgbClr val="64748B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64748B"/>
                </a:solidFill>
                <a:latin typeface="Arial"/>
              </a:rPr>
              <a:t>untuk</a:t>
            </a:r>
            <a:r>
              <a:rPr sz="1100" dirty="0">
                <a:solidFill>
                  <a:srgbClr val="64748B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64748B"/>
                </a:solidFill>
                <a:latin typeface="Arial"/>
              </a:rPr>
              <a:t>kenyamanan</a:t>
            </a:r>
            <a:r>
              <a:rPr sz="1100" dirty="0">
                <a:solidFill>
                  <a:srgbClr val="64748B"/>
                </a:solidFill>
                <a:latin typeface="Arial"/>
              </a:rPr>
              <a:t> visual.</a:t>
            </a:r>
          </a:p>
          <a:p>
            <a:pPr>
              <a:spcBef>
                <a:spcPts val="1000"/>
              </a:spcBef>
            </a:pPr>
            <a:r>
              <a:rPr sz="1400" b="1" dirty="0">
                <a:solidFill>
                  <a:srgbClr val="0D9488"/>
                </a:solidFill>
                <a:latin typeface="Arial"/>
              </a:rPr>
              <a:t>5. </a:t>
            </a:r>
            <a:r>
              <a:rPr sz="1400" b="1" dirty="0" err="1">
                <a:solidFill>
                  <a:srgbClr val="0D9488"/>
                </a:solidFill>
                <a:latin typeface="Arial"/>
              </a:rPr>
              <a:t>Bantuan</a:t>
            </a:r>
            <a:r>
              <a:rPr sz="1400" b="1" dirty="0">
                <a:solidFill>
                  <a:srgbClr val="0D9488"/>
                </a:solidFill>
                <a:latin typeface="Arial"/>
              </a:rPr>
              <a:t> </a:t>
            </a:r>
            <a:r>
              <a:rPr sz="1400" b="1" dirty="0" err="1">
                <a:solidFill>
                  <a:srgbClr val="0D9488"/>
                </a:solidFill>
                <a:latin typeface="Arial"/>
              </a:rPr>
              <a:t>Instan</a:t>
            </a:r>
            <a:r>
              <a:rPr sz="1400" b="1" dirty="0">
                <a:solidFill>
                  <a:srgbClr val="0D9488"/>
                </a:solidFill>
                <a:latin typeface="Arial"/>
              </a:rPr>
              <a:t>
</a:t>
            </a:r>
            <a:r>
              <a:rPr sz="1100" dirty="0" err="1">
                <a:solidFill>
                  <a:srgbClr val="64748B"/>
                </a:solidFill>
                <a:latin typeface="Arial"/>
              </a:rPr>
              <a:t>Klik</a:t>
            </a:r>
            <a:r>
              <a:rPr sz="1100" dirty="0">
                <a:solidFill>
                  <a:srgbClr val="64748B"/>
                </a:solidFill>
                <a:latin typeface="Arial"/>
              </a:rPr>
              <a:t> icon </a:t>
            </a:r>
            <a:r>
              <a:rPr sz="1100" dirty="0" err="1">
                <a:solidFill>
                  <a:srgbClr val="64748B"/>
                </a:solidFill>
                <a:latin typeface="Arial"/>
              </a:rPr>
              <a:t>tanda</a:t>
            </a:r>
            <a:r>
              <a:rPr sz="1100" dirty="0">
                <a:solidFill>
                  <a:srgbClr val="64748B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64748B"/>
                </a:solidFill>
                <a:latin typeface="Arial"/>
              </a:rPr>
              <a:t>tanya</a:t>
            </a:r>
            <a:r>
              <a:rPr sz="1100" dirty="0">
                <a:solidFill>
                  <a:srgbClr val="64748B"/>
                </a:solidFill>
                <a:latin typeface="Arial"/>
              </a:rPr>
              <a:t> '?' </a:t>
            </a:r>
            <a:r>
              <a:rPr sz="1100" dirty="0" err="1">
                <a:solidFill>
                  <a:srgbClr val="64748B"/>
                </a:solidFill>
                <a:latin typeface="Arial"/>
              </a:rPr>
              <a:t>untuk</a:t>
            </a:r>
            <a:r>
              <a:rPr sz="1100" dirty="0">
                <a:solidFill>
                  <a:srgbClr val="64748B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64748B"/>
                </a:solidFill>
                <a:latin typeface="Arial"/>
              </a:rPr>
              <a:t>membuka</a:t>
            </a:r>
            <a:r>
              <a:rPr sz="1100" dirty="0">
                <a:solidFill>
                  <a:srgbClr val="64748B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64748B"/>
                </a:solidFill>
                <a:latin typeface="Arial"/>
              </a:rPr>
              <a:t>petunjuk</a:t>
            </a:r>
            <a:r>
              <a:rPr sz="1100" dirty="0">
                <a:solidFill>
                  <a:srgbClr val="64748B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64748B"/>
                </a:solidFill>
                <a:latin typeface="Arial"/>
              </a:rPr>
              <a:t>cepat</a:t>
            </a:r>
            <a:r>
              <a:rPr sz="1100" dirty="0">
                <a:solidFill>
                  <a:srgbClr val="64748B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64748B"/>
                </a:solidFill>
                <a:latin typeface="Arial"/>
              </a:rPr>
              <a:t>kapan</a:t>
            </a:r>
            <a:r>
              <a:rPr sz="1100" dirty="0">
                <a:solidFill>
                  <a:srgbClr val="64748B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64748B"/>
                </a:solidFill>
                <a:latin typeface="Arial"/>
              </a:rPr>
              <a:t>saja</a:t>
            </a:r>
            <a:r>
              <a:rPr sz="1100" dirty="0">
                <a:solidFill>
                  <a:srgbClr val="64748B"/>
                </a:solidFill>
                <a:latin typeface="Arial"/>
              </a:rPr>
              <a:t>.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E649262B-523C-C9A4-C766-69D46CB1AD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8144" y="2172080"/>
            <a:ext cx="5851552" cy="365722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796867" y="382748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dirty="0">
                <a:solidFill>
                  <a:srgbClr val="059669"/>
                </a:solidFill>
                <a:latin typeface="Arial Black"/>
              </a:rPr>
              <a:t>♻️ RUBBISH APP</a:t>
            </a:r>
            <a:r>
              <a:rPr sz="1100" dirty="0">
                <a:solidFill>
                  <a:srgbClr val="64748B"/>
                </a:solidFill>
                <a:latin typeface="Arial"/>
              </a:rPr>
              <a:t> • USER MANUAL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7674" y="483811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dirty="0">
                <a:solidFill>
                  <a:srgbClr val="0D9488"/>
                </a:solidFill>
                <a:latin typeface="Arial"/>
              </a:rPr>
              <a:t>FITUR DASHBOARD USER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7674" y="920380"/>
            <a:ext cx="7772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 dirty="0" err="1">
                <a:solidFill>
                  <a:srgbClr val="0F172A"/>
                </a:solidFill>
                <a:latin typeface="Arial Black"/>
              </a:rPr>
              <a:t>Navigasi</a:t>
            </a:r>
            <a:r>
              <a:rPr sz="2200" b="1" dirty="0">
                <a:solidFill>
                  <a:srgbClr val="0F172A"/>
                </a:solidFill>
                <a:latin typeface="Arial Black"/>
              </a:rPr>
              <a:t> &amp; </a:t>
            </a:r>
            <a:r>
              <a:rPr sz="2200" b="1" dirty="0" err="1">
                <a:solidFill>
                  <a:srgbClr val="0F172A"/>
                </a:solidFill>
                <a:latin typeface="Arial Black"/>
              </a:rPr>
              <a:t>Pemantauan</a:t>
            </a:r>
            <a:r>
              <a:rPr sz="2200" b="1" dirty="0">
                <a:solidFill>
                  <a:srgbClr val="0F172A"/>
                </a:solidFill>
                <a:latin typeface="Arial Black"/>
              </a:rPr>
              <a:t> </a:t>
            </a:r>
            <a:r>
              <a:rPr sz="2200" b="1" dirty="0" err="1">
                <a:solidFill>
                  <a:srgbClr val="0F172A"/>
                </a:solidFill>
                <a:latin typeface="Arial Black"/>
              </a:rPr>
              <a:t>Aktivitas</a:t>
            </a:r>
            <a:endParaRPr sz="2200" b="1" dirty="0">
              <a:solidFill>
                <a:srgbClr val="0F172A"/>
              </a:solidFill>
              <a:latin typeface="Arial Black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463040" cy="32004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DASHBOARD</a:t>
            </a:r>
          </a:p>
        </p:txBody>
      </p:sp>
      <p:sp>
        <p:nvSpPr>
          <p:cNvPr id="7" name="Oval 6"/>
          <p:cNvSpPr/>
          <p:nvPr/>
        </p:nvSpPr>
        <p:spPr>
          <a:xfrm>
            <a:off x="11155680" y="822960"/>
            <a:ext cx="54864" cy="548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301984" y="822960"/>
            <a:ext cx="54864" cy="548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1448288" y="822960"/>
            <a:ext cx="54864" cy="548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1594592" y="822960"/>
            <a:ext cx="54864" cy="548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1155680" y="969264"/>
            <a:ext cx="54864" cy="548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1301984" y="969264"/>
            <a:ext cx="54864" cy="548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1448288" y="969264"/>
            <a:ext cx="54864" cy="548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1594592" y="969264"/>
            <a:ext cx="54864" cy="548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1155680" y="1115568"/>
            <a:ext cx="54864" cy="548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1301984" y="1115568"/>
            <a:ext cx="54864" cy="548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1448288" y="1115568"/>
            <a:ext cx="54864" cy="548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1594592" y="1115568"/>
            <a:ext cx="54864" cy="548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748B"/>
                </a:solidFill>
                <a:latin typeface="Arial"/>
              </a:rPr>
              <a:t>Rubbish Digital Platform • www.rubbish.app • Panduan Resmi Pengguna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059669"/>
                </a:solidFill>
                <a:latin typeface="Arial"/>
              </a:rP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19" y="2136880"/>
            <a:ext cx="4042611" cy="3811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dirty="0" err="1">
                <a:solidFill>
                  <a:srgbClr val="0F172A"/>
                </a:solidFill>
                <a:latin typeface="Arial"/>
              </a:rPr>
              <a:t>Komponen</a:t>
            </a:r>
            <a:r>
              <a:rPr sz="2000" b="1" dirty="0">
                <a:solidFill>
                  <a:srgbClr val="0F172A"/>
                </a:solidFill>
                <a:latin typeface="Arial"/>
              </a:rPr>
              <a:t> Utama Dashboard:</a:t>
            </a:r>
          </a:p>
          <a:p>
            <a:pPr>
              <a:spcBef>
                <a:spcPts val="1000"/>
              </a:spcBef>
            </a:pPr>
            <a:r>
              <a:rPr sz="1400" b="1" dirty="0">
                <a:solidFill>
                  <a:srgbClr val="059669"/>
                </a:solidFill>
                <a:latin typeface="Arial"/>
              </a:rPr>
              <a:t>🏆 Saldo </a:t>
            </a:r>
            <a:r>
              <a:rPr sz="1400" b="1" dirty="0" err="1">
                <a:solidFill>
                  <a:srgbClr val="059669"/>
                </a:solidFill>
                <a:latin typeface="Arial"/>
              </a:rPr>
              <a:t>Poin</a:t>
            </a:r>
            <a:r>
              <a:rPr sz="1400" b="1" dirty="0">
                <a:solidFill>
                  <a:srgbClr val="059669"/>
                </a:solidFill>
                <a:latin typeface="Arial"/>
              </a:rPr>
              <a:t> Reward
</a:t>
            </a:r>
            <a:r>
              <a:rPr sz="1100" dirty="0" err="1">
                <a:solidFill>
                  <a:srgbClr val="64748B"/>
                </a:solidFill>
                <a:latin typeface="Arial"/>
              </a:rPr>
              <a:t>Menampilkan</a:t>
            </a:r>
            <a:r>
              <a:rPr sz="1100" dirty="0">
                <a:solidFill>
                  <a:srgbClr val="64748B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64748B"/>
                </a:solidFill>
                <a:latin typeface="Arial"/>
              </a:rPr>
              <a:t>jumlah</a:t>
            </a:r>
            <a:r>
              <a:rPr sz="1100" dirty="0">
                <a:solidFill>
                  <a:srgbClr val="64748B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64748B"/>
                </a:solidFill>
                <a:latin typeface="Arial"/>
              </a:rPr>
              <a:t>poin</a:t>
            </a:r>
            <a:r>
              <a:rPr sz="1100" dirty="0">
                <a:solidFill>
                  <a:srgbClr val="64748B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64748B"/>
                </a:solidFill>
                <a:latin typeface="Arial"/>
              </a:rPr>
              <a:t>aktif</a:t>
            </a:r>
            <a:r>
              <a:rPr sz="1100" dirty="0">
                <a:solidFill>
                  <a:srgbClr val="64748B"/>
                </a:solidFill>
                <a:latin typeface="Arial"/>
              </a:rPr>
              <a:t> yang </a:t>
            </a:r>
            <a:r>
              <a:rPr sz="1100" dirty="0" err="1">
                <a:solidFill>
                  <a:srgbClr val="64748B"/>
                </a:solidFill>
                <a:latin typeface="Arial"/>
              </a:rPr>
              <a:t>langsung</a:t>
            </a:r>
            <a:r>
              <a:rPr sz="1100" dirty="0">
                <a:solidFill>
                  <a:srgbClr val="64748B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64748B"/>
                </a:solidFill>
                <a:latin typeface="Arial"/>
              </a:rPr>
              <a:t>bisa</a:t>
            </a:r>
            <a:r>
              <a:rPr sz="1100" dirty="0">
                <a:solidFill>
                  <a:srgbClr val="64748B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64748B"/>
                </a:solidFill>
                <a:latin typeface="Arial"/>
              </a:rPr>
              <a:t>digunakan</a:t>
            </a:r>
            <a:r>
              <a:rPr sz="1100" dirty="0">
                <a:solidFill>
                  <a:srgbClr val="64748B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64748B"/>
                </a:solidFill>
                <a:latin typeface="Arial"/>
              </a:rPr>
              <a:t>untuk</a:t>
            </a:r>
            <a:r>
              <a:rPr sz="1100" dirty="0">
                <a:solidFill>
                  <a:srgbClr val="64748B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64748B"/>
                </a:solidFill>
                <a:latin typeface="Arial"/>
              </a:rPr>
              <a:t>penukaran</a:t>
            </a:r>
            <a:r>
              <a:rPr sz="1100" dirty="0">
                <a:solidFill>
                  <a:srgbClr val="64748B"/>
                </a:solidFill>
                <a:latin typeface="Arial"/>
              </a:rPr>
              <a:t> reward.</a:t>
            </a:r>
          </a:p>
          <a:p>
            <a:pPr>
              <a:spcBef>
                <a:spcPts val="1000"/>
              </a:spcBef>
            </a:pPr>
            <a:r>
              <a:rPr sz="1400" b="1" dirty="0">
                <a:solidFill>
                  <a:srgbClr val="059669"/>
                </a:solidFill>
                <a:latin typeface="Arial"/>
              </a:rPr>
              <a:t>📊 </a:t>
            </a:r>
            <a:r>
              <a:rPr sz="1400" b="1" dirty="0" err="1">
                <a:solidFill>
                  <a:srgbClr val="059669"/>
                </a:solidFill>
                <a:latin typeface="Arial"/>
              </a:rPr>
              <a:t>Ringkasan</a:t>
            </a:r>
            <a:r>
              <a:rPr sz="1400" b="1" dirty="0">
                <a:solidFill>
                  <a:srgbClr val="059669"/>
                </a:solidFill>
                <a:latin typeface="Arial"/>
              </a:rPr>
              <a:t> </a:t>
            </a:r>
            <a:r>
              <a:rPr sz="1400" b="1" dirty="0" err="1">
                <a:solidFill>
                  <a:srgbClr val="059669"/>
                </a:solidFill>
                <a:latin typeface="Arial"/>
              </a:rPr>
              <a:t>Statistik</a:t>
            </a:r>
            <a:r>
              <a:rPr sz="1400" b="1" dirty="0">
                <a:solidFill>
                  <a:srgbClr val="059669"/>
                </a:solidFill>
                <a:latin typeface="Arial"/>
              </a:rPr>
              <a:t>
</a:t>
            </a:r>
            <a:r>
              <a:rPr sz="1100" dirty="0" err="1">
                <a:solidFill>
                  <a:srgbClr val="64748B"/>
                </a:solidFill>
                <a:latin typeface="Arial"/>
              </a:rPr>
              <a:t>Memantau</a:t>
            </a:r>
            <a:r>
              <a:rPr sz="1100" dirty="0">
                <a:solidFill>
                  <a:srgbClr val="64748B"/>
                </a:solidFill>
                <a:latin typeface="Arial"/>
              </a:rPr>
              <a:t> total </a:t>
            </a:r>
            <a:r>
              <a:rPr sz="1100" dirty="0" err="1">
                <a:solidFill>
                  <a:srgbClr val="64748B"/>
                </a:solidFill>
                <a:latin typeface="Arial"/>
              </a:rPr>
              <a:t>berat</a:t>
            </a:r>
            <a:r>
              <a:rPr sz="1100" dirty="0">
                <a:solidFill>
                  <a:srgbClr val="64748B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64748B"/>
                </a:solidFill>
                <a:latin typeface="Arial"/>
              </a:rPr>
              <a:t>sampah</a:t>
            </a:r>
            <a:r>
              <a:rPr sz="1100" dirty="0">
                <a:solidFill>
                  <a:srgbClr val="64748B"/>
                </a:solidFill>
                <a:latin typeface="Arial"/>
              </a:rPr>
              <a:t> yang </a:t>
            </a:r>
            <a:r>
              <a:rPr sz="1100" dirty="0" err="1">
                <a:solidFill>
                  <a:srgbClr val="64748B"/>
                </a:solidFill>
                <a:latin typeface="Arial"/>
              </a:rPr>
              <a:t>sudah</a:t>
            </a:r>
            <a:r>
              <a:rPr sz="1100" dirty="0">
                <a:solidFill>
                  <a:srgbClr val="64748B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64748B"/>
                </a:solidFill>
                <a:latin typeface="Arial"/>
              </a:rPr>
              <a:t>disetor</a:t>
            </a:r>
            <a:r>
              <a:rPr sz="1100" dirty="0">
                <a:solidFill>
                  <a:srgbClr val="64748B"/>
                </a:solidFill>
                <a:latin typeface="Arial"/>
              </a:rPr>
              <a:t> (Kg) dan </a:t>
            </a:r>
            <a:r>
              <a:rPr sz="1100" dirty="0" err="1">
                <a:solidFill>
                  <a:srgbClr val="64748B"/>
                </a:solidFill>
                <a:latin typeface="Arial"/>
              </a:rPr>
              <a:t>jumlah</a:t>
            </a:r>
            <a:r>
              <a:rPr sz="1100" dirty="0">
                <a:solidFill>
                  <a:srgbClr val="64748B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64748B"/>
                </a:solidFill>
                <a:latin typeface="Arial"/>
              </a:rPr>
              <a:t>laporan</a:t>
            </a:r>
            <a:r>
              <a:rPr sz="1100" dirty="0">
                <a:solidFill>
                  <a:srgbClr val="64748B"/>
                </a:solidFill>
                <a:latin typeface="Arial"/>
              </a:rPr>
              <a:t> yang </a:t>
            </a:r>
            <a:r>
              <a:rPr sz="1100" dirty="0" err="1">
                <a:solidFill>
                  <a:srgbClr val="64748B"/>
                </a:solidFill>
                <a:latin typeface="Arial"/>
              </a:rPr>
              <a:t>selesai</a:t>
            </a:r>
            <a:r>
              <a:rPr sz="1100" dirty="0">
                <a:solidFill>
                  <a:srgbClr val="64748B"/>
                </a:solidFill>
                <a:latin typeface="Arial"/>
              </a:rPr>
              <a:t>.</a:t>
            </a:r>
          </a:p>
          <a:p>
            <a:pPr>
              <a:spcBef>
                <a:spcPts val="1000"/>
              </a:spcBef>
            </a:pPr>
            <a:r>
              <a:rPr sz="1400" b="1" dirty="0">
                <a:solidFill>
                  <a:srgbClr val="059669"/>
                </a:solidFill>
                <a:latin typeface="Arial"/>
              </a:rPr>
              <a:t>📋 Riwayat </a:t>
            </a:r>
            <a:r>
              <a:rPr sz="1400" b="1" dirty="0" err="1">
                <a:solidFill>
                  <a:srgbClr val="059669"/>
                </a:solidFill>
                <a:latin typeface="Arial"/>
              </a:rPr>
              <a:t>Laporan</a:t>
            </a:r>
            <a:r>
              <a:rPr sz="1400" b="1" dirty="0">
                <a:solidFill>
                  <a:srgbClr val="059669"/>
                </a:solidFill>
                <a:latin typeface="Arial"/>
              </a:rPr>
              <a:t> Real-Time
</a:t>
            </a:r>
            <a:r>
              <a:rPr sz="1100" dirty="0">
                <a:solidFill>
                  <a:srgbClr val="64748B"/>
                </a:solidFill>
                <a:latin typeface="Arial"/>
              </a:rPr>
              <a:t>Daftar status </a:t>
            </a:r>
            <a:r>
              <a:rPr sz="1100" dirty="0" err="1">
                <a:solidFill>
                  <a:srgbClr val="64748B"/>
                </a:solidFill>
                <a:latin typeface="Arial"/>
              </a:rPr>
              <a:t>penjemputan</a:t>
            </a:r>
            <a:r>
              <a:rPr sz="1100" dirty="0">
                <a:solidFill>
                  <a:srgbClr val="64748B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64748B"/>
                </a:solidFill>
                <a:latin typeface="Arial"/>
              </a:rPr>
              <a:t>dengan</a:t>
            </a:r>
            <a:r>
              <a:rPr sz="1100" dirty="0">
                <a:solidFill>
                  <a:srgbClr val="64748B"/>
                </a:solidFill>
                <a:latin typeface="Arial"/>
              </a:rPr>
              <a:t> badge </a:t>
            </a:r>
            <a:r>
              <a:rPr sz="1100" dirty="0" err="1">
                <a:solidFill>
                  <a:srgbClr val="64748B"/>
                </a:solidFill>
                <a:latin typeface="Arial"/>
              </a:rPr>
              <a:t>warna</a:t>
            </a:r>
            <a:r>
              <a:rPr sz="1100" dirty="0">
                <a:solidFill>
                  <a:srgbClr val="64748B"/>
                </a:solidFill>
                <a:latin typeface="Arial"/>
              </a:rPr>
              <a:t>: PENDING (Kuning), DIPROSES (Biru), SELESAI (Hijau), DITOLAK (Merah).</a:t>
            </a:r>
          </a:p>
          <a:p>
            <a:pPr>
              <a:spcBef>
                <a:spcPts val="1000"/>
              </a:spcBef>
            </a:pPr>
            <a:r>
              <a:rPr sz="1400" b="1" dirty="0">
                <a:solidFill>
                  <a:srgbClr val="059669"/>
                </a:solidFill>
                <a:latin typeface="Arial"/>
              </a:rPr>
              <a:t>⚡ </a:t>
            </a:r>
            <a:r>
              <a:rPr sz="1400" b="1" dirty="0" err="1">
                <a:solidFill>
                  <a:srgbClr val="059669"/>
                </a:solidFill>
                <a:latin typeface="Arial"/>
              </a:rPr>
              <a:t>Tombol</a:t>
            </a:r>
            <a:r>
              <a:rPr sz="1400" b="1" dirty="0">
                <a:solidFill>
                  <a:srgbClr val="059669"/>
                </a:solidFill>
                <a:latin typeface="Arial"/>
              </a:rPr>
              <a:t> </a:t>
            </a:r>
            <a:r>
              <a:rPr sz="1400" b="1" dirty="0" err="1">
                <a:solidFill>
                  <a:srgbClr val="059669"/>
                </a:solidFill>
                <a:latin typeface="Arial"/>
              </a:rPr>
              <a:t>Buat</a:t>
            </a:r>
            <a:r>
              <a:rPr sz="1400" b="1" dirty="0">
                <a:solidFill>
                  <a:srgbClr val="059669"/>
                </a:solidFill>
                <a:latin typeface="Arial"/>
              </a:rPr>
              <a:t> </a:t>
            </a:r>
            <a:r>
              <a:rPr sz="1400" b="1" dirty="0" err="1">
                <a:solidFill>
                  <a:srgbClr val="059669"/>
                </a:solidFill>
                <a:latin typeface="Arial"/>
              </a:rPr>
              <a:t>Laporan</a:t>
            </a:r>
            <a:r>
              <a:rPr sz="1400" b="1" dirty="0">
                <a:solidFill>
                  <a:srgbClr val="059669"/>
                </a:solidFill>
                <a:latin typeface="Arial"/>
              </a:rPr>
              <a:t>
</a:t>
            </a:r>
            <a:r>
              <a:rPr sz="1100" dirty="0">
                <a:solidFill>
                  <a:srgbClr val="64748B"/>
                </a:solidFill>
                <a:latin typeface="Arial"/>
              </a:rPr>
              <a:t>Akses </a:t>
            </a:r>
            <a:r>
              <a:rPr sz="1100" dirty="0" err="1">
                <a:solidFill>
                  <a:srgbClr val="64748B"/>
                </a:solidFill>
                <a:latin typeface="Arial"/>
              </a:rPr>
              <a:t>cepat</a:t>
            </a:r>
            <a:r>
              <a:rPr sz="1100" dirty="0">
                <a:solidFill>
                  <a:srgbClr val="64748B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64748B"/>
                </a:solidFill>
                <a:latin typeface="Arial"/>
              </a:rPr>
              <a:t>untuk</a:t>
            </a:r>
            <a:r>
              <a:rPr sz="1100" dirty="0">
                <a:solidFill>
                  <a:srgbClr val="64748B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64748B"/>
                </a:solidFill>
                <a:latin typeface="Arial"/>
              </a:rPr>
              <a:t>membuka</a:t>
            </a:r>
            <a:r>
              <a:rPr sz="1100" dirty="0">
                <a:solidFill>
                  <a:srgbClr val="64748B"/>
                </a:solidFill>
                <a:latin typeface="Arial"/>
              </a:rPr>
              <a:t> popup </a:t>
            </a:r>
            <a:r>
              <a:rPr sz="1100" dirty="0" err="1">
                <a:solidFill>
                  <a:srgbClr val="64748B"/>
                </a:solidFill>
                <a:latin typeface="Arial"/>
              </a:rPr>
              <a:t>formulir</a:t>
            </a:r>
            <a:r>
              <a:rPr sz="1100" dirty="0">
                <a:solidFill>
                  <a:srgbClr val="64748B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64748B"/>
                </a:solidFill>
                <a:latin typeface="Arial"/>
              </a:rPr>
              <a:t>pelaporan</a:t>
            </a:r>
            <a:r>
              <a:rPr sz="1100" dirty="0">
                <a:solidFill>
                  <a:srgbClr val="64748B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64748B"/>
                </a:solidFill>
                <a:latin typeface="Arial"/>
              </a:rPr>
              <a:t>sampah</a:t>
            </a:r>
            <a:r>
              <a:rPr sz="1100" dirty="0">
                <a:solidFill>
                  <a:srgbClr val="64748B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64748B"/>
                </a:solidFill>
                <a:latin typeface="Arial"/>
              </a:rPr>
              <a:t>baru</a:t>
            </a:r>
            <a:r>
              <a:rPr sz="1100" dirty="0">
                <a:solidFill>
                  <a:srgbClr val="64748B"/>
                </a:solidFill>
                <a:latin typeface="Arial"/>
              </a:rPr>
              <a:t>.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060CD50C-1550-30CD-CF63-8647482349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8686" y="2027369"/>
            <a:ext cx="6273298" cy="392081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822267" y="352044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dirty="0">
                <a:solidFill>
                  <a:srgbClr val="059669"/>
                </a:solidFill>
                <a:latin typeface="Arial Black"/>
              </a:rPr>
              <a:t>♻️ RUBBISH APP</a:t>
            </a:r>
            <a:r>
              <a:rPr sz="1100" dirty="0">
                <a:solidFill>
                  <a:srgbClr val="64748B"/>
                </a:solidFill>
                <a:latin typeface="Arial"/>
              </a:rPr>
              <a:t> • USER MANUAL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6533" y="41148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0D9488"/>
                </a:solidFill>
                <a:latin typeface="Arial"/>
              </a:rPr>
              <a:t>PELAPORAN SAMPAH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6533" y="788874"/>
            <a:ext cx="7772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 dirty="0">
                <a:solidFill>
                  <a:srgbClr val="0F172A"/>
                </a:solidFill>
                <a:latin typeface="Arial Black"/>
              </a:rPr>
              <a:t>Panduan Request </a:t>
            </a:r>
            <a:r>
              <a:rPr sz="2200" b="1" dirty="0" err="1">
                <a:solidFill>
                  <a:srgbClr val="0F172A"/>
                </a:solidFill>
                <a:latin typeface="Arial Black"/>
              </a:rPr>
              <a:t>Penjemputan</a:t>
            </a:r>
            <a:r>
              <a:rPr sz="2200" b="1" dirty="0">
                <a:solidFill>
                  <a:srgbClr val="0F172A"/>
                </a:solidFill>
                <a:latin typeface="Arial Black"/>
              </a:rPr>
              <a:t> </a:t>
            </a:r>
            <a:r>
              <a:rPr sz="2200" b="1" dirty="0" err="1">
                <a:solidFill>
                  <a:srgbClr val="0F172A"/>
                </a:solidFill>
                <a:latin typeface="Arial Black"/>
              </a:rPr>
              <a:t>Sampah</a:t>
            </a:r>
            <a:endParaRPr sz="2200" b="1" dirty="0">
              <a:solidFill>
                <a:srgbClr val="0F172A"/>
              </a:solidFill>
              <a:latin typeface="Arial Black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1463040" cy="32004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LAPOR SAMPAH</a:t>
            </a:r>
          </a:p>
        </p:txBody>
      </p:sp>
      <p:sp>
        <p:nvSpPr>
          <p:cNvPr id="7" name="Oval 6"/>
          <p:cNvSpPr/>
          <p:nvPr/>
        </p:nvSpPr>
        <p:spPr>
          <a:xfrm>
            <a:off x="11155680" y="822960"/>
            <a:ext cx="54864" cy="548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301984" y="822960"/>
            <a:ext cx="54864" cy="548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1448288" y="822960"/>
            <a:ext cx="54864" cy="548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1594592" y="822960"/>
            <a:ext cx="54864" cy="548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1155680" y="969264"/>
            <a:ext cx="54864" cy="548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1301984" y="969264"/>
            <a:ext cx="54864" cy="548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1448288" y="969264"/>
            <a:ext cx="54864" cy="548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1594592" y="969264"/>
            <a:ext cx="54864" cy="548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1155680" y="1115568"/>
            <a:ext cx="54864" cy="548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1301984" y="1115568"/>
            <a:ext cx="54864" cy="548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1448288" y="1115568"/>
            <a:ext cx="54864" cy="548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1594592" y="1115568"/>
            <a:ext cx="54864" cy="548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748B"/>
                </a:solidFill>
                <a:latin typeface="Arial"/>
              </a:rPr>
              <a:t>Rubbish Digital Platform • www.rubbish.app • Panduan Resmi Pengguna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059669"/>
                </a:solidFill>
                <a:latin typeface="Arial"/>
              </a:rPr>
              <a:t>07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1828800"/>
            <a:ext cx="3781213" cy="3934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dirty="0">
                <a:solidFill>
                  <a:srgbClr val="0F172A"/>
                </a:solidFill>
                <a:latin typeface="Arial"/>
              </a:rPr>
              <a:t>Langkah </a:t>
            </a:r>
            <a:r>
              <a:rPr b="1" dirty="0" err="1">
                <a:solidFill>
                  <a:srgbClr val="0F172A"/>
                </a:solidFill>
                <a:latin typeface="Arial"/>
              </a:rPr>
              <a:t>Pengajuan</a:t>
            </a:r>
            <a:r>
              <a:rPr b="1" dirty="0">
                <a:solidFill>
                  <a:srgbClr val="0F172A"/>
                </a:solidFill>
                <a:latin typeface="Arial"/>
              </a:rPr>
              <a:t> </a:t>
            </a:r>
            <a:r>
              <a:rPr b="1" dirty="0" err="1">
                <a:solidFill>
                  <a:srgbClr val="0F172A"/>
                </a:solidFill>
                <a:latin typeface="Arial"/>
              </a:rPr>
              <a:t>Laporan</a:t>
            </a:r>
            <a:r>
              <a:rPr b="1" dirty="0">
                <a:solidFill>
                  <a:srgbClr val="0F172A"/>
                </a:solidFill>
                <a:latin typeface="Arial"/>
              </a:rPr>
              <a:t>:</a:t>
            </a:r>
          </a:p>
          <a:p>
            <a:pPr>
              <a:spcBef>
                <a:spcPts val="800"/>
              </a:spcBef>
            </a:pPr>
            <a:r>
              <a:rPr sz="1200" b="1" dirty="0">
                <a:solidFill>
                  <a:srgbClr val="0D9488"/>
                </a:solidFill>
                <a:latin typeface="Arial"/>
              </a:rPr>
              <a:t>1. </a:t>
            </a:r>
            <a:r>
              <a:rPr sz="1200" b="1" dirty="0" err="1">
                <a:solidFill>
                  <a:srgbClr val="0D9488"/>
                </a:solidFill>
                <a:latin typeface="Arial"/>
              </a:rPr>
              <a:t>Pilih</a:t>
            </a:r>
            <a:r>
              <a:rPr sz="1200" b="1" dirty="0">
                <a:solidFill>
                  <a:srgbClr val="0D9488"/>
                </a:solidFill>
                <a:latin typeface="Arial"/>
              </a:rPr>
              <a:t> Jenis </a:t>
            </a:r>
            <a:r>
              <a:rPr sz="1200" b="1" dirty="0" err="1">
                <a:solidFill>
                  <a:srgbClr val="0D9488"/>
                </a:solidFill>
                <a:latin typeface="Arial"/>
              </a:rPr>
              <a:t>Sampah</a:t>
            </a:r>
            <a:r>
              <a:rPr sz="1200" b="1" dirty="0">
                <a:solidFill>
                  <a:srgbClr val="0D9488"/>
                </a:solidFill>
                <a:latin typeface="Arial"/>
              </a:rPr>
              <a:t>
</a:t>
            </a:r>
            <a:r>
              <a:rPr sz="1050" dirty="0" err="1">
                <a:solidFill>
                  <a:srgbClr val="64748B"/>
                </a:solidFill>
                <a:latin typeface="Arial"/>
              </a:rPr>
              <a:t>Pilih</a:t>
            </a:r>
            <a:r>
              <a:rPr sz="1050" dirty="0">
                <a:solidFill>
                  <a:srgbClr val="64748B"/>
                </a:solidFill>
                <a:latin typeface="Arial"/>
              </a:rPr>
              <a:t> </a:t>
            </a:r>
            <a:r>
              <a:rPr sz="1050" dirty="0" err="1">
                <a:solidFill>
                  <a:srgbClr val="64748B"/>
                </a:solidFill>
                <a:latin typeface="Arial"/>
              </a:rPr>
              <a:t>kategori</a:t>
            </a:r>
            <a:r>
              <a:rPr sz="1050" dirty="0">
                <a:solidFill>
                  <a:srgbClr val="64748B"/>
                </a:solidFill>
                <a:latin typeface="Arial"/>
              </a:rPr>
              <a:t>: Plastik, </a:t>
            </a:r>
            <a:r>
              <a:rPr sz="1050" dirty="0" err="1">
                <a:solidFill>
                  <a:srgbClr val="64748B"/>
                </a:solidFill>
                <a:latin typeface="Arial"/>
              </a:rPr>
              <a:t>Kertas</a:t>
            </a:r>
            <a:r>
              <a:rPr sz="1050" dirty="0">
                <a:solidFill>
                  <a:srgbClr val="64748B"/>
                </a:solidFill>
                <a:latin typeface="Arial"/>
              </a:rPr>
              <a:t>/</a:t>
            </a:r>
            <a:r>
              <a:rPr sz="1050" dirty="0" err="1">
                <a:solidFill>
                  <a:srgbClr val="64748B"/>
                </a:solidFill>
                <a:latin typeface="Arial"/>
              </a:rPr>
              <a:t>Kardus</a:t>
            </a:r>
            <a:r>
              <a:rPr sz="1050" dirty="0">
                <a:solidFill>
                  <a:srgbClr val="64748B"/>
                </a:solidFill>
                <a:latin typeface="Arial"/>
              </a:rPr>
              <a:t>, </a:t>
            </a:r>
            <a:r>
              <a:rPr sz="1050" dirty="0" err="1">
                <a:solidFill>
                  <a:srgbClr val="64748B"/>
                </a:solidFill>
                <a:latin typeface="Arial"/>
              </a:rPr>
              <a:t>Logam</a:t>
            </a:r>
            <a:r>
              <a:rPr sz="1050" dirty="0">
                <a:solidFill>
                  <a:srgbClr val="64748B"/>
                </a:solidFill>
                <a:latin typeface="Arial"/>
              </a:rPr>
              <a:t>/</a:t>
            </a:r>
            <a:r>
              <a:rPr sz="1050" dirty="0" err="1">
                <a:solidFill>
                  <a:srgbClr val="64748B"/>
                </a:solidFill>
                <a:latin typeface="Arial"/>
              </a:rPr>
              <a:t>Besi</a:t>
            </a:r>
            <a:r>
              <a:rPr sz="1050" dirty="0">
                <a:solidFill>
                  <a:srgbClr val="64748B"/>
                </a:solidFill>
                <a:latin typeface="Arial"/>
              </a:rPr>
              <a:t>, Kaca, </a:t>
            </a:r>
            <a:r>
              <a:rPr sz="1050" dirty="0" err="1">
                <a:solidFill>
                  <a:srgbClr val="64748B"/>
                </a:solidFill>
                <a:latin typeface="Arial"/>
              </a:rPr>
              <a:t>atau</a:t>
            </a:r>
            <a:r>
              <a:rPr sz="1050" dirty="0">
                <a:solidFill>
                  <a:srgbClr val="64748B"/>
                </a:solidFill>
                <a:latin typeface="Arial"/>
              </a:rPr>
              <a:t> Elektronik.</a:t>
            </a:r>
          </a:p>
          <a:p>
            <a:pPr>
              <a:spcBef>
                <a:spcPts val="800"/>
              </a:spcBef>
            </a:pPr>
            <a:r>
              <a:rPr sz="1200" b="1" dirty="0">
                <a:solidFill>
                  <a:srgbClr val="0D9488"/>
                </a:solidFill>
                <a:latin typeface="Arial"/>
              </a:rPr>
              <a:t>2. </a:t>
            </a:r>
            <a:r>
              <a:rPr sz="1200" b="1" dirty="0" err="1">
                <a:solidFill>
                  <a:srgbClr val="0D9488"/>
                </a:solidFill>
                <a:latin typeface="Arial"/>
              </a:rPr>
              <a:t>Estimasi</a:t>
            </a:r>
            <a:r>
              <a:rPr sz="1200" b="1" dirty="0">
                <a:solidFill>
                  <a:srgbClr val="0D9488"/>
                </a:solidFill>
                <a:latin typeface="Arial"/>
              </a:rPr>
              <a:t> Berat (Kg)
</a:t>
            </a:r>
            <a:r>
              <a:rPr sz="1050" dirty="0">
                <a:solidFill>
                  <a:srgbClr val="64748B"/>
                </a:solidFill>
                <a:latin typeface="Arial"/>
              </a:rPr>
              <a:t>Masukkan </a:t>
            </a:r>
            <a:r>
              <a:rPr sz="1050" dirty="0" err="1">
                <a:solidFill>
                  <a:srgbClr val="64748B"/>
                </a:solidFill>
                <a:latin typeface="Arial"/>
              </a:rPr>
              <a:t>perkiraan</a:t>
            </a:r>
            <a:r>
              <a:rPr sz="1050" dirty="0">
                <a:solidFill>
                  <a:srgbClr val="64748B"/>
                </a:solidFill>
                <a:latin typeface="Arial"/>
              </a:rPr>
              <a:t> </a:t>
            </a:r>
            <a:r>
              <a:rPr sz="1050" dirty="0" err="1">
                <a:solidFill>
                  <a:srgbClr val="64748B"/>
                </a:solidFill>
                <a:latin typeface="Arial"/>
              </a:rPr>
              <a:t>berat</a:t>
            </a:r>
            <a:r>
              <a:rPr sz="1050" dirty="0">
                <a:solidFill>
                  <a:srgbClr val="64748B"/>
                </a:solidFill>
                <a:latin typeface="Arial"/>
              </a:rPr>
              <a:t> </a:t>
            </a:r>
            <a:r>
              <a:rPr sz="1050" dirty="0" err="1">
                <a:solidFill>
                  <a:srgbClr val="64748B"/>
                </a:solidFill>
                <a:latin typeface="Arial"/>
              </a:rPr>
              <a:t>sampah</a:t>
            </a:r>
            <a:r>
              <a:rPr sz="1050" dirty="0">
                <a:solidFill>
                  <a:srgbClr val="64748B"/>
                </a:solidFill>
                <a:latin typeface="Arial"/>
              </a:rPr>
              <a:t> yang </a:t>
            </a:r>
            <a:r>
              <a:rPr sz="1050" dirty="0" err="1">
                <a:solidFill>
                  <a:srgbClr val="64748B"/>
                </a:solidFill>
                <a:latin typeface="Arial"/>
              </a:rPr>
              <a:t>akan</a:t>
            </a:r>
            <a:r>
              <a:rPr sz="1050" dirty="0">
                <a:solidFill>
                  <a:srgbClr val="64748B"/>
                </a:solidFill>
                <a:latin typeface="Arial"/>
              </a:rPr>
              <a:t> </a:t>
            </a:r>
            <a:r>
              <a:rPr sz="1050" dirty="0" err="1">
                <a:solidFill>
                  <a:srgbClr val="64748B"/>
                </a:solidFill>
                <a:latin typeface="Arial"/>
              </a:rPr>
              <a:t>dijemput</a:t>
            </a:r>
            <a:r>
              <a:rPr sz="1050" dirty="0">
                <a:solidFill>
                  <a:srgbClr val="64748B"/>
                </a:solidFill>
                <a:latin typeface="Arial"/>
              </a:rPr>
              <a:t> oleh </a:t>
            </a:r>
            <a:r>
              <a:rPr sz="1050" dirty="0" err="1">
                <a:solidFill>
                  <a:srgbClr val="64748B"/>
                </a:solidFill>
                <a:latin typeface="Arial"/>
              </a:rPr>
              <a:t>petugas</a:t>
            </a:r>
            <a:r>
              <a:rPr sz="1050" dirty="0">
                <a:solidFill>
                  <a:srgbClr val="64748B"/>
                </a:solidFill>
                <a:latin typeface="Arial"/>
              </a:rPr>
              <a:t>.</a:t>
            </a:r>
          </a:p>
          <a:p>
            <a:pPr>
              <a:spcBef>
                <a:spcPts val="800"/>
              </a:spcBef>
            </a:pPr>
            <a:r>
              <a:rPr sz="1200" b="1" dirty="0">
                <a:solidFill>
                  <a:srgbClr val="0D9488"/>
                </a:solidFill>
                <a:latin typeface="Arial"/>
              </a:rPr>
              <a:t>3. </a:t>
            </a:r>
            <a:r>
              <a:rPr sz="1200" b="1" dirty="0" err="1">
                <a:solidFill>
                  <a:srgbClr val="0D9488"/>
                </a:solidFill>
                <a:latin typeface="Arial"/>
              </a:rPr>
              <a:t>Tentukan</a:t>
            </a:r>
            <a:r>
              <a:rPr sz="1200" b="1" dirty="0">
                <a:solidFill>
                  <a:srgbClr val="0D9488"/>
                </a:solidFill>
                <a:latin typeface="Arial"/>
              </a:rPr>
              <a:t> Wilayah &amp; Alamat
</a:t>
            </a:r>
            <a:r>
              <a:rPr sz="1050" dirty="0" err="1">
                <a:solidFill>
                  <a:srgbClr val="64748B"/>
                </a:solidFill>
                <a:latin typeface="Arial"/>
              </a:rPr>
              <a:t>Pilih</a:t>
            </a:r>
            <a:r>
              <a:rPr sz="1050" dirty="0">
                <a:solidFill>
                  <a:srgbClr val="64748B"/>
                </a:solidFill>
                <a:latin typeface="Arial"/>
              </a:rPr>
              <a:t> </a:t>
            </a:r>
            <a:r>
              <a:rPr sz="1050" dirty="0" err="1">
                <a:solidFill>
                  <a:srgbClr val="64748B"/>
                </a:solidFill>
                <a:latin typeface="Arial"/>
              </a:rPr>
              <a:t>kecamatan</a:t>
            </a:r>
            <a:r>
              <a:rPr sz="1050" dirty="0">
                <a:solidFill>
                  <a:srgbClr val="64748B"/>
                </a:solidFill>
                <a:latin typeface="Arial"/>
              </a:rPr>
              <a:t>/wilayah </a:t>
            </a:r>
            <a:r>
              <a:rPr sz="1050" dirty="0" err="1">
                <a:solidFill>
                  <a:srgbClr val="64748B"/>
                </a:solidFill>
                <a:latin typeface="Arial"/>
              </a:rPr>
              <a:t>terdekat</a:t>
            </a:r>
            <a:r>
              <a:rPr sz="1050" dirty="0">
                <a:solidFill>
                  <a:srgbClr val="64748B"/>
                </a:solidFill>
                <a:latin typeface="Arial"/>
              </a:rPr>
              <a:t> dan </a:t>
            </a:r>
            <a:r>
              <a:rPr sz="1050" dirty="0" err="1">
                <a:solidFill>
                  <a:srgbClr val="64748B"/>
                </a:solidFill>
                <a:latin typeface="Arial"/>
              </a:rPr>
              <a:t>masukkan</a:t>
            </a:r>
            <a:r>
              <a:rPr sz="1050" dirty="0">
                <a:solidFill>
                  <a:srgbClr val="64748B"/>
                </a:solidFill>
                <a:latin typeface="Arial"/>
              </a:rPr>
              <a:t> </a:t>
            </a:r>
            <a:r>
              <a:rPr sz="1050" dirty="0" err="1">
                <a:solidFill>
                  <a:srgbClr val="64748B"/>
                </a:solidFill>
                <a:latin typeface="Arial"/>
              </a:rPr>
              <a:t>alamat</a:t>
            </a:r>
            <a:r>
              <a:rPr sz="1050" dirty="0">
                <a:solidFill>
                  <a:srgbClr val="64748B"/>
                </a:solidFill>
                <a:latin typeface="Arial"/>
              </a:rPr>
              <a:t> </a:t>
            </a:r>
            <a:r>
              <a:rPr sz="1050" dirty="0" err="1">
                <a:solidFill>
                  <a:srgbClr val="64748B"/>
                </a:solidFill>
                <a:latin typeface="Arial"/>
              </a:rPr>
              <a:t>jemput</a:t>
            </a:r>
            <a:r>
              <a:rPr sz="1050" dirty="0">
                <a:solidFill>
                  <a:srgbClr val="64748B"/>
                </a:solidFill>
                <a:latin typeface="Arial"/>
              </a:rPr>
              <a:t> </a:t>
            </a:r>
            <a:r>
              <a:rPr sz="1050" dirty="0" err="1">
                <a:solidFill>
                  <a:srgbClr val="64748B"/>
                </a:solidFill>
                <a:latin typeface="Arial"/>
              </a:rPr>
              <a:t>spesifik</a:t>
            </a:r>
            <a:r>
              <a:rPr sz="1050" dirty="0">
                <a:solidFill>
                  <a:srgbClr val="64748B"/>
                </a:solidFill>
                <a:latin typeface="Arial"/>
              </a:rPr>
              <a:t>.</a:t>
            </a:r>
          </a:p>
          <a:p>
            <a:pPr>
              <a:spcBef>
                <a:spcPts val="800"/>
              </a:spcBef>
            </a:pPr>
            <a:r>
              <a:rPr sz="1200" b="1" dirty="0">
                <a:solidFill>
                  <a:srgbClr val="0D9488"/>
                </a:solidFill>
                <a:latin typeface="Arial"/>
              </a:rPr>
              <a:t>4. Upload Foto </a:t>
            </a:r>
            <a:r>
              <a:rPr sz="1200" b="1" dirty="0" err="1">
                <a:solidFill>
                  <a:srgbClr val="0D9488"/>
                </a:solidFill>
                <a:latin typeface="Arial"/>
              </a:rPr>
              <a:t>Sampah</a:t>
            </a:r>
            <a:r>
              <a:rPr sz="1200" b="1" dirty="0">
                <a:solidFill>
                  <a:srgbClr val="0D9488"/>
                </a:solidFill>
                <a:latin typeface="Arial"/>
              </a:rPr>
              <a:t>
</a:t>
            </a:r>
            <a:r>
              <a:rPr sz="1050" dirty="0" err="1">
                <a:solidFill>
                  <a:srgbClr val="64748B"/>
                </a:solidFill>
                <a:latin typeface="Arial"/>
              </a:rPr>
              <a:t>Sertakan</a:t>
            </a:r>
            <a:r>
              <a:rPr sz="1050" dirty="0">
                <a:solidFill>
                  <a:srgbClr val="64748B"/>
                </a:solidFill>
                <a:latin typeface="Arial"/>
              </a:rPr>
              <a:t> </a:t>
            </a:r>
            <a:r>
              <a:rPr sz="1050" dirty="0" err="1">
                <a:solidFill>
                  <a:srgbClr val="64748B"/>
                </a:solidFill>
                <a:latin typeface="Arial"/>
              </a:rPr>
              <a:t>bukti</a:t>
            </a:r>
            <a:r>
              <a:rPr sz="1050" dirty="0">
                <a:solidFill>
                  <a:srgbClr val="64748B"/>
                </a:solidFill>
                <a:latin typeface="Arial"/>
              </a:rPr>
              <a:t> </a:t>
            </a:r>
            <a:r>
              <a:rPr sz="1050" dirty="0" err="1">
                <a:solidFill>
                  <a:srgbClr val="64748B"/>
                </a:solidFill>
                <a:latin typeface="Arial"/>
              </a:rPr>
              <a:t>foto</a:t>
            </a:r>
            <a:r>
              <a:rPr sz="1050" dirty="0">
                <a:solidFill>
                  <a:srgbClr val="64748B"/>
                </a:solidFill>
                <a:latin typeface="Arial"/>
              </a:rPr>
              <a:t> </a:t>
            </a:r>
            <a:r>
              <a:rPr sz="1050" dirty="0" err="1">
                <a:solidFill>
                  <a:srgbClr val="64748B"/>
                </a:solidFill>
                <a:latin typeface="Arial"/>
              </a:rPr>
              <a:t>kondisi</a:t>
            </a:r>
            <a:r>
              <a:rPr sz="1050" dirty="0">
                <a:solidFill>
                  <a:srgbClr val="64748B"/>
                </a:solidFill>
                <a:latin typeface="Arial"/>
              </a:rPr>
              <a:t> </a:t>
            </a:r>
            <a:r>
              <a:rPr sz="1050" dirty="0" err="1">
                <a:solidFill>
                  <a:srgbClr val="64748B"/>
                </a:solidFill>
                <a:latin typeface="Arial"/>
              </a:rPr>
              <a:t>tumpukan</a:t>
            </a:r>
            <a:r>
              <a:rPr sz="1050" dirty="0">
                <a:solidFill>
                  <a:srgbClr val="64748B"/>
                </a:solidFill>
                <a:latin typeface="Arial"/>
              </a:rPr>
              <a:t> </a:t>
            </a:r>
            <a:r>
              <a:rPr sz="1050" dirty="0" err="1">
                <a:solidFill>
                  <a:srgbClr val="64748B"/>
                </a:solidFill>
                <a:latin typeface="Arial"/>
              </a:rPr>
              <a:t>sampah</a:t>
            </a:r>
            <a:r>
              <a:rPr sz="1050" dirty="0">
                <a:solidFill>
                  <a:srgbClr val="64748B"/>
                </a:solidFill>
                <a:latin typeface="Arial"/>
              </a:rPr>
              <a:t> </a:t>
            </a:r>
            <a:r>
              <a:rPr sz="1050" dirty="0" err="1">
                <a:solidFill>
                  <a:srgbClr val="64748B"/>
                </a:solidFill>
                <a:latin typeface="Arial"/>
              </a:rPr>
              <a:t>untuk</a:t>
            </a:r>
            <a:r>
              <a:rPr sz="1050" dirty="0">
                <a:solidFill>
                  <a:srgbClr val="64748B"/>
                </a:solidFill>
                <a:latin typeface="Arial"/>
              </a:rPr>
              <a:t> </a:t>
            </a:r>
            <a:r>
              <a:rPr sz="1050" dirty="0" err="1">
                <a:solidFill>
                  <a:srgbClr val="64748B"/>
                </a:solidFill>
                <a:latin typeface="Arial"/>
              </a:rPr>
              <a:t>memudahkan</a:t>
            </a:r>
            <a:r>
              <a:rPr sz="1050" dirty="0">
                <a:solidFill>
                  <a:srgbClr val="64748B"/>
                </a:solidFill>
                <a:latin typeface="Arial"/>
              </a:rPr>
              <a:t> </a:t>
            </a:r>
            <a:r>
              <a:rPr sz="1050" dirty="0" err="1">
                <a:solidFill>
                  <a:srgbClr val="64748B"/>
                </a:solidFill>
                <a:latin typeface="Arial"/>
              </a:rPr>
              <a:t>tim</a:t>
            </a:r>
            <a:r>
              <a:rPr sz="1050" dirty="0">
                <a:solidFill>
                  <a:srgbClr val="64748B"/>
                </a:solidFill>
                <a:latin typeface="Arial"/>
              </a:rPr>
              <a:t> </a:t>
            </a:r>
            <a:r>
              <a:rPr sz="1050" dirty="0" err="1">
                <a:solidFill>
                  <a:srgbClr val="64748B"/>
                </a:solidFill>
                <a:latin typeface="Arial"/>
              </a:rPr>
              <a:t>sortir</a:t>
            </a:r>
            <a:r>
              <a:rPr sz="1050" dirty="0">
                <a:solidFill>
                  <a:srgbClr val="64748B"/>
                </a:solidFill>
                <a:latin typeface="Arial"/>
              </a:rPr>
              <a:t>.</a:t>
            </a:r>
          </a:p>
          <a:p>
            <a:pPr>
              <a:spcBef>
                <a:spcPts val="800"/>
              </a:spcBef>
            </a:pPr>
            <a:r>
              <a:rPr sz="1200" b="1" dirty="0">
                <a:solidFill>
                  <a:srgbClr val="0D9488"/>
                </a:solidFill>
                <a:latin typeface="Arial"/>
              </a:rPr>
              <a:t>5. </a:t>
            </a:r>
            <a:r>
              <a:rPr sz="1200" b="1" dirty="0" err="1">
                <a:solidFill>
                  <a:srgbClr val="0D9488"/>
                </a:solidFill>
                <a:latin typeface="Arial"/>
              </a:rPr>
              <a:t>Prioritas</a:t>
            </a:r>
            <a:r>
              <a:rPr sz="1200" b="1" dirty="0">
                <a:solidFill>
                  <a:srgbClr val="0D9488"/>
                </a:solidFill>
                <a:latin typeface="Arial"/>
              </a:rPr>
              <a:t> &amp; </a:t>
            </a:r>
            <a:r>
              <a:rPr sz="1200" b="1" dirty="0" err="1">
                <a:solidFill>
                  <a:srgbClr val="0D9488"/>
                </a:solidFill>
                <a:latin typeface="Arial"/>
              </a:rPr>
              <a:t>Deskripsi</a:t>
            </a:r>
            <a:r>
              <a:rPr sz="1200" b="1" dirty="0">
                <a:solidFill>
                  <a:srgbClr val="0D9488"/>
                </a:solidFill>
                <a:latin typeface="Arial"/>
              </a:rPr>
              <a:t>
</a:t>
            </a:r>
            <a:r>
              <a:rPr sz="1050" dirty="0" err="1">
                <a:solidFill>
                  <a:srgbClr val="64748B"/>
                </a:solidFill>
                <a:latin typeface="Arial"/>
              </a:rPr>
              <a:t>Pilih</a:t>
            </a:r>
            <a:r>
              <a:rPr sz="1050" dirty="0">
                <a:solidFill>
                  <a:srgbClr val="64748B"/>
                </a:solidFill>
                <a:latin typeface="Arial"/>
              </a:rPr>
              <a:t> </a:t>
            </a:r>
            <a:r>
              <a:rPr sz="1050" dirty="0" err="1">
                <a:solidFill>
                  <a:srgbClr val="64748B"/>
                </a:solidFill>
                <a:latin typeface="Arial"/>
              </a:rPr>
              <a:t>urgensi</a:t>
            </a:r>
            <a:r>
              <a:rPr sz="1050" dirty="0">
                <a:solidFill>
                  <a:srgbClr val="64748B"/>
                </a:solidFill>
                <a:latin typeface="Arial"/>
              </a:rPr>
              <a:t> (</a:t>
            </a:r>
            <a:r>
              <a:rPr sz="1050" dirty="0" err="1">
                <a:solidFill>
                  <a:srgbClr val="64748B"/>
                </a:solidFill>
                <a:latin typeface="Arial"/>
              </a:rPr>
              <a:t>Rendah</a:t>
            </a:r>
            <a:r>
              <a:rPr sz="1050" dirty="0">
                <a:solidFill>
                  <a:srgbClr val="64748B"/>
                </a:solidFill>
                <a:latin typeface="Arial"/>
              </a:rPr>
              <a:t>/Sedang/Tinggi) dan </a:t>
            </a:r>
            <a:r>
              <a:rPr sz="1050" dirty="0" err="1">
                <a:solidFill>
                  <a:srgbClr val="64748B"/>
                </a:solidFill>
                <a:latin typeface="Arial"/>
              </a:rPr>
              <a:t>tambahkan</a:t>
            </a:r>
            <a:r>
              <a:rPr sz="1050" dirty="0">
                <a:solidFill>
                  <a:srgbClr val="64748B"/>
                </a:solidFill>
                <a:latin typeface="Arial"/>
              </a:rPr>
              <a:t> </a:t>
            </a:r>
            <a:r>
              <a:rPr sz="1050" dirty="0" err="1">
                <a:solidFill>
                  <a:srgbClr val="64748B"/>
                </a:solidFill>
                <a:latin typeface="Arial"/>
              </a:rPr>
              <a:t>catatan</a:t>
            </a:r>
            <a:r>
              <a:rPr sz="1050" dirty="0">
                <a:solidFill>
                  <a:srgbClr val="64748B"/>
                </a:solidFill>
                <a:latin typeface="Arial"/>
              </a:rPr>
              <a:t> detail </a:t>
            </a:r>
            <a:r>
              <a:rPr sz="1050" dirty="0" err="1">
                <a:solidFill>
                  <a:srgbClr val="64748B"/>
                </a:solidFill>
                <a:latin typeface="Arial"/>
              </a:rPr>
              <a:t>penjemputan</a:t>
            </a:r>
            <a:r>
              <a:rPr sz="1050" dirty="0">
                <a:solidFill>
                  <a:srgbClr val="64748B"/>
                </a:solidFill>
                <a:latin typeface="Arial"/>
              </a:rPr>
              <a:t>.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7CB1D96A-6F3A-119B-15D5-599E234F2E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407" y="1746504"/>
            <a:ext cx="6422745" cy="401421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822266" y="3657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059669"/>
                </a:solidFill>
                <a:latin typeface="Arial Black"/>
              </a:rPr>
              <a:t>♻️ RUBBISH APP</a:t>
            </a:r>
            <a:r>
              <a:rPr sz="1100">
                <a:solidFill>
                  <a:srgbClr val="64748B"/>
                </a:solidFill>
                <a:latin typeface="Arial"/>
              </a:rPr>
              <a:t> • USER MANUAL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4181" y="47408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dirty="0">
                <a:solidFill>
                  <a:srgbClr val="0D9488"/>
                </a:solidFill>
                <a:latin typeface="Arial"/>
              </a:rPr>
              <a:t>KATALOG REWARD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4181" y="864691"/>
            <a:ext cx="7772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 dirty="0">
                <a:solidFill>
                  <a:srgbClr val="0F172A"/>
                </a:solidFill>
                <a:latin typeface="Arial Black"/>
              </a:rPr>
              <a:t>Cara </a:t>
            </a:r>
            <a:r>
              <a:rPr sz="2200" b="1" dirty="0" err="1">
                <a:solidFill>
                  <a:srgbClr val="0F172A"/>
                </a:solidFill>
                <a:latin typeface="Arial Black"/>
              </a:rPr>
              <a:t>Menukar</a:t>
            </a:r>
            <a:r>
              <a:rPr sz="2200" b="1" dirty="0">
                <a:solidFill>
                  <a:srgbClr val="0F172A"/>
                </a:solidFill>
                <a:latin typeface="Arial Black"/>
              </a:rPr>
              <a:t> </a:t>
            </a:r>
            <a:r>
              <a:rPr sz="2200" b="1" dirty="0" err="1">
                <a:solidFill>
                  <a:srgbClr val="0F172A"/>
                </a:solidFill>
                <a:latin typeface="Arial Black"/>
              </a:rPr>
              <a:t>Poin</a:t>
            </a:r>
            <a:r>
              <a:rPr sz="2200" b="1" dirty="0">
                <a:solidFill>
                  <a:srgbClr val="0F172A"/>
                </a:solidFill>
                <a:latin typeface="Arial Black"/>
              </a:rPr>
              <a:t> </a:t>
            </a:r>
            <a:r>
              <a:rPr sz="2200" b="1" dirty="0" err="1">
                <a:solidFill>
                  <a:srgbClr val="0F172A"/>
                </a:solidFill>
                <a:latin typeface="Arial Black"/>
              </a:rPr>
              <a:t>dengan</a:t>
            </a:r>
            <a:r>
              <a:rPr sz="2200" b="1" dirty="0">
                <a:solidFill>
                  <a:srgbClr val="0F172A"/>
                </a:solidFill>
                <a:latin typeface="Arial Black"/>
              </a:rPr>
              <a:t> Hadiah </a:t>
            </a:r>
            <a:r>
              <a:rPr sz="2200" b="1" dirty="0" err="1">
                <a:solidFill>
                  <a:srgbClr val="0F172A"/>
                </a:solidFill>
                <a:latin typeface="Arial Black"/>
              </a:rPr>
              <a:t>Menarik</a:t>
            </a:r>
            <a:endParaRPr sz="2200" b="1" dirty="0">
              <a:solidFill>
                <a:srgbClr val="0F172A"/>
              </a:solidFill>
              <a:latin typeface="Arial Black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31520" y="1472184"/>
            <a:ext cx="1463040" cy="32004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 dirty="0">
                <a:solidFill>
                  <a:srgbClr val="FFFFFF"/>
                </a:solidFill>
                <a:latin typeface="Arial"/>
              </a:rPr>
              <a:t>REDEEM REWARD</a:t>
            </a:r>
          </a:p>
        </p:txBody>
      </p:sp>
      <p:sp>
        <p:nvSpPr>
          <p:cNvPr id="7" name="Oval 6"/>
          <p:cNvSpPr/>
          <p:nvPr/>
        </p:nvSpPr>
        <p:spPr>
          <a:xfrm>
            <a:off x="11155680" y="822960"/>
            <a:ext cx="54864" cy="548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301984" y="822960"/>
            <a:ext cx="54864" cy="548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1448288" y="822960"/>
            <a:ext cx="54864" cy="548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1594592" y="822960"/>
            <a:ext cx="54864" cy="548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1155680" y="969264"/>
            <a:ext cx="54864" cy="548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1301984" y="969264"/>
            <a:ext cx="54864" cy="548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1448288" y="969264"/>
            <a:ext cx="54864" cy="548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1594592" y="969264"/>
            <a:ext cx="54864" cy="548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1155680" y="1115568"/>
            <a:ext cx="54864" cy="548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1301984" y="1115568"/>
            <a:ext cx="54864" cy="548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1448288" y="1115568"/>
            <a:ext cx="54864" cy="548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1594592" y="1115568"/>
            <a:ext cx="54864" cy="548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748B"/>
                </a:solidFill>
                <a:latin typeface="Arial"/>
              </a:rPr>
              <a:t>Rubbish Digital Platform • www.rubbish.app • Panduan Resmi Pengguna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059669"/>
                </a:solidFill>
                <a:latin typeface="Arial"/>
              </a:rPr>
              <a:t>08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2573" y="2076828"/>
            <a:ext cx="3925147" cy="3934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dirty="0" err="1">
                <a:solidFill>
                  <a:srgbClr val="0F172A"/>
                </a:solidFill>
                <a:latin typeface="Arial"/>
              </a:rPr>
              <a:t>Mekanisme</a:t>
            </a:r>
            <a:r>
              <a:rPr b="1" dirty="0">
                <a:solidFill>
                  <a:srgbClr val="0F172A"/>
                </a:solidFill>
                <a:latin typeface="Arial"/>
              </a:rPr>
              <a:t> </a:t>
            </a:r>
            <a:r>
              <a:rPr b="1" dirty="0" err="1">
                <a:solidFill>
                  <a:srgbClr val="0F172A"/>
                </a:solidFill>
                <a:latin typeface="Arial"/>
              </a:rPr>
              <a:t>Penukaran</a:t>
            </a:r>
            <a:r>
              <a:rPr b="1" dirty="0">
                <a:solidFill>
                  <a:srgbClr val="0F172A"/>
                </a:solidFill>
                <a:latin typeface="Arial"/>
              </a:rPr>
              <a:t> </a:t>
            </a:r>
            <a:r>
              <a:rPr b="1" dirty="0" err="1">
                <a:solidFill>
                  <a:srgbClr val="0F172A"/>
                </a:solidFill>
                <a:latin typeface="Arial"/>
              </a:rPr>
              <a:t>Poin</a:t>
            </a:r>
            <a:r>
              <a:rPr b="1" dirty="0">
                <a:solidFill>
                  <a:srgbClr val="0F172A"/>
                </a:solidFill>
                <a:latin typeface="Arial"/>
              </a:rPr>
              <a:t>:</a:t>
            </a:r>
          </a:p>
          <a:p>
            <a:pPr>
              <a:spcBef>
                <a:spcPts val="800"/>
              </a:spcBef>
            </a:pPr>
            <a:r>
              <a:rPr sz="1200" b="1" dirty="0">
                <a:solidFill>
                  <a:srgbClr val="F59E0B"/>
                </a:solidFill>
                <a:latin typeface="Arial"/>
              </a:rPr>
              <a:t>1. Buka Menu Redeem
</a:t>
            </a:r>
            <a:r>
              <a:rPr sz="1050" dirty="0" err="1">
                <a:solidFill>
                  <a:srgbClr val="64748B"/>
                </a:solidFill>
                <a:latin typeface="Arial"/>
              </a:rPr>
              <a:t>Klik</a:t>
            </a:r>
            <a:r>
              <a:rPr sz="1050" dirty="0">
                <a:solidFill>
                  <a:srgbClr val="64748B"/>
                </a:solidFill>
                <a:latin typeface="Arial"/>
              </a:rPr>
              <a:t> menu 'Redeem' di </a:t>
            </a:r>
            <a:r>
              <a:rPr sz="1050" dirty="0" err="1">
                <a:solidFill>
                  <a:srgbClr val="64748B"/>
                </a:solidFill>
                <a:latin typeface="Arial"/>
              </a:rPr>
              <a:t>navigasi</a:t>
            </a:r>
            <a:r>
              <a:rPr sz="1050" dirty="0">
                <a:solidFill>
                  <a:srgbClr val="64748B"/>
                </a:solidFill>
                <a:latin typeface="Arial"/>
              </a:rPr>
              <a:t> </a:t>
            </a:r>
            <a:r>
              <a:rPr sz="1050" dirty="0" err="1">
                <a:solidFill>
                  <a:srgbClr val="64748B"/>
                </a:solidFill>
                <a:latin typeface="Arial"/>
              </a:rPr>
              <a:t>atas</a:t>
            </a:r>
            <a:r>
              <a:rPr sz="1050" dirty="0">
                <a:solidFill>
                  <a:srgbClr val="64748B"/>
                </a:solidFill>
                <a:latin typeface="Arial"/>
              </a:rPr>
              <a:t> </a:t>
            </a:r>
            <a:r>
              <a:rPr sz="1050" dirty="0" err="1">
                <a:solidFill>
                  <a:srgbClr val="64748B"/>
                </a:solidFill>
                <a:latin typeface="Arial"/>
              </a:rPr>
              <a:t>untuk</a:t>
            </a:r>
            <a:r>
              <a:rPr sz="1050" dirty="0">
                <a:solidFill>
                  <a:srgbClr val="64748B"/>
                </a:solidFill>
                <a:latin typeface="Arial"/>
              </a:rPr>
              <a:t> </a:t>
            </a:r>
            <a:r>
              <a:rPr sz="1050" dirty="0" err="1">
                <a:solidFill>
                  <a:srgbClr val="64748B"/>
                </a:solidFill>
                <a:latin typeface="Arial"/>
              </a:rPr>
              <a:t>melihat</a:t>
            </a:r>
            <a:r>
              <a:rPr sz="1050" dirty="0">
                <a:solidFill>
                  <a:srgbClr val="64748B"/>
                </a:solidFill>
                <a:latin typeface="Arial"/>
              </a:rPr>
              <a:t> daftar </a:t>
            </a:r>
            <a:r>
              <a:rPr sz="1050" dirty="0" err="1">
                <a:solidFill>
                  <a:srgbClr val="64748B"/>
                </a:solidFill>
                <a:latin typeface="Arial"/>
              </a:rPr>
              <a:t>katalog</a:t>
            </a:r>
            <a:r>
              <a:rPr sz="1050" dirty="0">
                <a:solidFill>
                  <a:srgbClr val="64748B"/>
                </a:solidFill>
                <a:latin typeface="Arial"/>
              </a:rPr>
              <a:t> voucher &amp; </a:t>
            </a:r>
            <a:r>
              <a:rPr sz="1050" dirty="0" err="1">
                <a:solidFill>
                  <a:srgbClr val="64748B"/>
                </a:solidFill>
                <a:latin typeface="Arial"/>
              </a:rPr>
              <a:t>produk</a:t>
            </a:r>
            <a:r>
              <a:rPr sz="1050" dirty="0">
                <a:solidFill>
                  <a:srgbClr val="64748B"/>
                </a:solidFill>
                <a:latin typeface="Arial"/>
              </a:rPr>
              <a:t>.</a:t>
            </a:r>
          </a:p>
          <a:p>
            <a:pPr>
              <a:spcBef>
                <a:spcPts val="800"/>
              </a:spcBef>
            </a:pPr>
            <a:r>
              <a:rPr sz="1200" b="1" dirty="0">
                <a:solidFill>
                  <a:srgbClr val="F59E0B"/>
                </a:solidFill>
                <a:latin typeface="Arial"/>
              </a:rPr>
              <a:t>2. Cek Saldo &amp; Harga </a:t>
            </a:r>
            <a:r>
              <a:rPr sz="1200" b="1" dirty="0" err="1">
                <a:solidFill>
                  <a:srgbClr val="F59E0B"/>
                </a:solidFill>
                <a:latin typeface="Arial"/>
              </a:rPr>
              <a:t>Poin</a:t>
            </a:r>
            <a:r>
              <a:rPr sz="1200" b="1" dirty="0">
                <a:solidFill>
                  <a:srgbClr val="F59E0B"/>
                </a:solidFill>
                <a:latin typeface="Arial"/>
              </a:rPr>
              <a:t>
</a:t>
            </a:r>
            <a:r>
              <a:rPr sz="1050" dirty="0" err="1">
                <a:solidFill>
                  <a:srgbClr val="64748B"/>
                </a:solidFill>
                <a:latin typeface="Arial"/>
              </a:rPr>
              <a:t>Setiap</a:t>
            </a:r>
            <a:r>
              <a:rPr sz="1050" dirty="0">
                <a:solidFill>
                  <a:srgbClr val="64748B"/>
                </a:solidFill>
                <a:latin typeface="Arial"/>
              </a:rPr>
              <a:t> item </a:t>
            </a:r>
            <a:r>
              <a:rPr sz="1050" dirty="0" err="1">
                <a:solidFill>
                  <a:srgbClr val="64748B"/>
                </a:solidFill>
                <a:latin typeface="Arial"/>
              </a:rPr>
              <a:t>memiliki</a:t>
            </a:r>
            <a:r>
              <a:rPr sz="1050" dirty="0">
                <a:solidFill>
                  <a:srgbClr val="64748B"/>
                </a:solidFill>
                <a:latin typeface="Arial"/>
              </a:rPr>
              <a:t> nominal </a:t>
            </a:r>
            <a:r>
              <a:rPr sz="1050" dirty="0" err="1">
                <a:solidFill>
                  <a:srgbClr val="64748B"/>
                </a:solidFill>
                <a:latin typeface="Arial"/>
              </a:rPr>
              <a:t>poin</a:t>
            </a:r>
            <a:r>
              <a:rPr sz="1050" dirty="0">
                <a:solidFill>
                  <a:srgbClr val="64748B"/>
                </a:solidFill>
                <a:latin typeface="Arial"/>
              </a:rPr>
              <a:t> dan status </a:t>
            </a:r>
            <a:r>
              <a:rPr sz="1050" dirty="0" err="1">
                <a:solidFill>
                  <a:srgbClr val="64748B"/>
                </a:solidFill>
                <a:latin typeface="Arial"/>
              </a:rPr>
              <a:t>ketersediaan</a:t>
            </a:r>
            <a:r>
              <a:rPr sz="1050" dirty="0">
                <a:solidFill>
                  <a:srgbClr val="64748B"/>
                </a:solidFill>
                <a:latin typeface="Arial"/>
              </a:rPr>
              <a:t> </a:t>
            </a:r>
            <a:r>
              <a:rPr sz="1050" dirty="0" err="1">
                <a:solidFill>
                  <a:srgbClr val="64748B"/>
                </a:solidFill>
                <a:latin typeface="Arial"/>
              </a:rPr>
              <a:t>stok</a:t>
            </a:r>
            <a:r>
              <a:rPr sz="1050" dirty="0">
                <a:solidFill>
                  <a:srgbClr val="64748B"/>
                </a:solidFill>
                <a:latin typeface="Arial"/>
              </a:rPr>
              <a:t> real-time.</a:t>
            </a:r>
          </a:p>
          <a:p>
            <a:pPr>
              <a:spcBef>
                <a:spcPts val="800"/>
              </a:spcBef>
            </a:pPr>
            <a:r>
              <a:rPr sz="1200" b="1" dirty="0">
                <a:solidFill>
                  <a:srgbClr val="F59E0B"/>
                </a:solidFill>
                <a:latin typeface="Arial"/>
              </a:rPr>
              <a:t>3. </a:t>
            </a:r>
            <a:r>
              <a:rPr sz="1200" b="1" dirty="0" err="1">
                <a:solidFill>
                  <a:srgbClr val="F59E0B"/>
                </a:solidFill>
                <a:latin typeface="Arial"/>
              </a:rPr>
              <a:t>Variasi</a:t>
            </a:r>
            <a:r>
              <a:rPr sz="1200" b="1" dirty="0">
                <a:solidFill>
                  <a:srgbClr val="F59E0B"/>
                </a:solidFill>
                <a:latin typeface="Arial"/>
              </a:rPr>
              <a:t> </a:t>
            </a:r>
            <a:r>
              <a:rPr sz="1200" b="1" dirty="0" err="1">
                <a:solidFill>
                  <a:srgbClr val="F59E0B"/>
                </a:solidFill>
                <a:latin typeface="Arial"/>
              </a:rPr>
              <a:t>Kategori</a:t>
            </a:r>
            <a:r>
              <a:rPr sz="1200" b="1" dirty="0">
                <a:solidFill>
                  <a:srgbClr val="F59E0B"/>
                </a:solidFill>
                <a:latin typeface="Arial"/>
              </a:rPr>
              <a:t> Reward
</a:t>
            </a:r>
            <a:r>
              <a:rPr sz="1050" dirty="0" err="1">
                <a:solidFill>
                  <a:srgbClr val="64748B"/>
                </a:solidFill>
                <a:latin typeface="Arial"/>
              </a:rPr>
              <a:t>Tersedia</a:t>
            </a:r>
            <a:r>
              <a:rPr sz="1050" dirty="0">
                <a:solidFill>
                  <a:srgbClr val="64748B"/>
                </a:solidFill>
                <a:latin typeface="Arial"/>
              </a:rPr>
              <a:t> Voucher </a:t>
            </a:r>
            <a:r>
              <a:rPr sz="1050" dirty="0" err="1">
                <a:solidFill>
                  <a:srgbClr val="64748B"/>
                </a:solidFill>
                <a:latin typeface="Arial"/>
              </a:rPr>
              <a:t>Belanja</a:t>
            </a:r>
            <a:r>
              <a:rPr sz="1050" dirty="0">
                <a:solidFill>
                  <a:srgbClr val="64748B"/>
                </a:solidFill>
                <a:latin typeface="Arial"/>
              </a:rPr>
              <a:t> Minimarket, </a:t>
            </a:r>
            <a:r>
              <a:rPr sz="1050" dirty="0" err="1">
                <a:solidFill>
                  <a:srgbClr val="64748B"/>
                </a:solidFill>
                <a:latin typeface="Arial"/>
              </a:rPr>
              <a:t>Produk</a:t>
            </a:r>
            <a:r>
              <a:rPr sz="1050" dirty="0">
                <a:solidFill>
                  <a:srgbClr val="64748B"/>
                </a:solidFill>
                <a:latin typeface="Arial"/>
              </a:rPr>
              <a:t> Eco Tumbler, </a:t>
            </a:r>
            <a:r>
              <a:rPr sz="1050" dirty="0" err="1">
                <a:solidFill>
                  <a:srgbClr val="64748B"/>
                </a:solidFill>
                <a:latin typeface="Arial"/>
              </a:rPr>
              <a:t>hingga</a:t>
            </a:r>
            <a:r>
              <a:rPr sz="1050" dirty="0">
                <a:solidFill>
                  <a:srgbClr val="64748B"/>
                </a:solidFill>
                <a:latin typeface="Arial"/>
              </a:rPr>
              <a:t> </a:t>
            </a:r>
            <a:r>
              <a:rPr sz="1050" dirty="0" err="1">
                <a:solidFill>
                  <a:srgbClr val="64748B"/>
                </a:solidFill>
                <a:latin typeface="Arial"/>
              </a:rPr>
              <a:t>Donasi</a:t>
            </a:r>
            <a:r>
              <a:rPr sz="1050" dirty="0">
                <a:solidFill>
                  <a:srgbClr val="64748B"/>
                </a:solidFill>
                <a:latin typeface="Arial"/>
              </a:rPr>
              <a:t> </a:t>
            </a:r>
            <a:r>
              <a:rPr sz="1050" dirty="0" err="1">
                <a:solidFill>
                  <a:srgbClr val="64748B"/>
                </a:solidFill>
                <a:latin typeface="Arial"/>
              </a:rPr>
              <a:t>Bibit</a:t>
            </a:r>
            <a:r>
              <a:rPr sz="1050" dirty="0">
                <a:solidFill>
                  <a:srgbClr val="64748B"/>
                </a:solidFill>
                <a:latin typeface="Arial"/>
              </a:rPr>
              <a:t> </a:t>
            </a:r>
            <a:r>
              <a:rPr sz="1050" dirty="0" err="1">
                <a:solidFill>
                  <a:srgbClr val="64748B"/>
                </a:solidFill>
                <a:latin typeface="Arial"/>
              </a:rPr>
              <a:t>Pohon</a:t>
            </a:r>
            <a:r>
              <a:rPr sz="1050" dirty="0">
                <a:solidFill>
                  <a:srgbClr val="64748B"/>
                </a:solidFill>
                <a:latin typeface="Arial"/>
              </a:rPr>
              <a:t>.</a:t>
            </a:r>
          </a:p>
          <a:p>
            <a:pPr>
              <a:spcBef>
                <a:spcPts val="800"/>
              </a:spcBef>
            </a:pPr>
            <a:r>
              <a:rPr sz="1200" b="1" dirty="0">
                <a:solidFill>
                  <a:srgbClr val="F59E0B"/>
                </a:solidFill>
                <a:latin typeface="Arial"/>
              </a:rPr>
              <a:t>4. </a:t>
            </a:r>
            <a:r>
              <a:rPr sz="1200" b="1" dirty="0" err="1">
                <a:solidFill>
                  <a:srgbClr val="F59E0B"/>
                </a:solidFill>
                <a:latin typeface="Arial"/>
              </a:rPr>
              <a:t>Klik</a:t>
            </a:r>
            <a:r>
              <a:rPr sz="1200" b="1" dirty="0">
                <a:solidFill>
                  <a:srgbClr val="F59E0B"/>
                </a:solidFill>
                <a:latin typeface="Arial"/>
              </a:rPr>
              <a:t> '</a:t>
            </a:r>
            <a:r>
              <a:rPr sz="1200" b="1" dirty="0" err="1">
                <a:solidFill>
                  <a:srgbClr val="F59E0B"/>
                </a:solidFill>
                <a:latin typeface="Arial"/>
              </a:rPr>
              <a:t>Tukar</a:t>
            </a:r>
            <a:r>
              <a:rPr sz="1200" b="1" dirty="0">
                <a:solidFill>
                  <a:srgbClr val="F59E0B"/>
                </a:solidFill>
                <a:latin typeface="Arial"/>
              </a:rPr>
              <a:t> </a:t>
            </a:r>
            <a:r>
              <a:rPr sz="1200" b="1" dirty="0" err="1">
                <a:solidFill>
                  <a:srgbClr val="F59E0B"/>
                </a:solidFill>
                <a:latin typeface="Arial"/>
              </a:rPr>
              <a:t>Sekarang</a:t>
            </a:r>
            <a:r>
              <a:rPr sz="1200" b="1" dirty="0">
                <a:solidFill>
                  <a:srgbClr val="F59E0B"/>
                </a:solidFill>
                <a:latin typeface="Arial"/>
              </a:rPr>
              <a:t>'
</a:t>
            </a:r>
            <a:r>
              <a:rPr sz="1050" dirty="0" err="1">
                <a:solidFill>
                  <a:srgbClr val="64748B"/>
                </a:solidFill>
                <a:latin typeface="Arial"/>
              </a:rPr>
              <a:t>Tombol</a:t>
            </a:r>
            <a:r>
              <a:rPr sz="1050" dirty="0">
                <a:solidFill>
                  <a:srgbClr val="64748B"/>
                </a:solidFill>
                <a:latin typeface="Arial"/>
              </a:rPr>
              <a:t> </a:t>
            </a:r>
            <a:r>
              <a:rPr sz="1050" dirty="0" err="1">
                <a:solidFill>
                  <a:srgbClr val="64748B"/>
                </a:solidFill>
                <a:latin typeface="Arial"/>
              </a:rPr>
              <a:t>otomatis</a:t>
            </a:r>
            <a:r>
              <a:rPr sz="1050" dirty="0">
                <a:solidFill>
                  <a:srgbClr val="64748B"/>
                </a:solidFill>
                <a:latin typeface="Arial"/>
              </a:rPr>
              <a:t> </a:t>
            </a:r>
            <a:r>
              <a:rPr sz="1050" dirty="0" err="1">
                <a:solidFill>
                  <a:srgbClr val="64748B"/>
                </a:solidFill>
                <a:latin typeface="Arial"/>
              </a:rPr>
              <a:t>aktif</a:t>
            </a:r>
            <a:r>
              <a:rPr sz="1050" dirty="0">
                <a:solidFill>
                  <a:srgbClr val="64748B"/>
                </a:solidFill>
                <a:latin typeface="Arial"/>
              </a:rPr>
              <a:t> </a:t>
            </a:r>
            <a:r>
              <a:rPr sz="1050" dirty="0" err="1">
                <a:solidFill>
                  <a:srgbClr val="64748B"/>
                </a:solidFill>
                <a:latin typeface="Arial"/>
              </a:rPr>
              <a:t>jika</a:t>
            </a:r>
            <a:r>
              <a:rPr sz="1050" dirty="0">
                <a:solidFill>
                  <a:srgbClr val="64748B"/>
                </a:solidFill>
                <a:latin typeface="Arial"/>
              </a:rPr>
              <a:t> </a:t>
            </a:r>
            <a:r>
              <a:rPr sz="1050" dirty="0" err="1">
                <a:solidFill>
                  <a:srgbClr val="64748B"/>
                </a:solidFill>
                <a:latin typeface="Arial"/>
              </a:rPr>
              <a:t>saldo</a:t>
            </a:r>
            <a:r>
              <a:rPr sz="1050" dirty="0">
                <a:solidFill>
                  <a:srgbClr val="64748B"/>
                </a:solidFill>
                <a:latin typeface="Arial"/>
              </a:rPr>
              <a:t> </a:t>
            </a:r>
            <a:r>
              <a:rPr sz="1050" dirty="0" err="1">
                <a:solidFill>
                  <a:srgbClr val="64748B"/>
                </a:solidFill>
                <a:latin typeface="Arial"/>
              </a:rPr>
              <a:t>poin</a:t>
            </a:r>
            <a:r>
              <a:rPr sz="1050" dirty="0">
                <a:solidFill>
                  <a:srgbClr val="64748B"/>
                </a:solidFill>
                <a:latin typeface="Arial"/>
              </a:rPr>
              <a:t> Anda </a:t>
            </a:r>
            <a:r>
              <a:rPr sz="1050" dirty="0" err="1">
                <a:solidFill>
                  <a:srgbClr val="64748B"/>
                </a:solidFill>
                <a:latin typeface="Arial"/>
              </a:rPr>
              <a:t>mencukupi</a:t>
            </a:r>
            <a:r>
              <a:rPr sz="1050" dirty="0">
                <a:solidFill>
                  <a:srgbClr val="64748B"/>
                </a:solidFill>
                <a:latin typeface="Arial"/>
              </a:rPr>
              <a:t> dan </a:t>
            </a:r>
            <a:r>
              <a:rPr sz="1050" dirty="0" err="1">
                <a:solidFill>
                  <a:srgbClr val="64748B"/>
                </a:solidFill>
                <a:latin typeface="Arial"/>
              </a:rPr>
              <a:t>stok</a:t>
            </a:r>
            <a:r>
              <a:rPr sz="1050" dirty="0">
                <a:solidFill>
                  <a:srgbClr val="64748B"/>
                </a:solidFill>
                <a:latin typeface="Arial"/>
              </a:rPr>
              <a:t> </a:t>
            </a:r>
            <a:r>
              <a:rPr sz="1050" dirty="0" err="1">
                <a:solidFill>
                  <a:srgbClr val="64748B"/>
                </a:solidFill>
                <a:latin typeface="Arial"/>
              </a:rPr>
              <a:t>tersedia</a:t>
            </a:r>
            <a:r>
              <a:rPr sz="1050" dirty="0">
                <a:solidFill>
                  <a:srgbClr val="64748B"/>
                </a:solidFill>
                <a:latin typeface="Arial"/>
              </a:rPr>
              <a:t>.</a:t>
            </a:r>
          </a:p>
          <a:p>
            <a:pPr>
              <a:spcBef>
                <a:spcPts val="800"/>
              </a:spcBef>
            </a:pPr>
            <a:r>
              <a:rPr sz="1200" b="1" dirty="0">
                <a:solidFill>
                  <a:srgbClr val="F59E0B"/>
                </a:solidFill>
                <a:latin typeface="Arial"/>
              </a:rPr>
              <a:t>5. </a:t>
            </a:r>
            <a:r>
              <a:rPr sz="1200" b="1" dirty="0" err="1">
                <a:solidFill>
                  <a:srgbClr val="F59E0B"/>
                </a:solidFill>
                <a:latin typeface="Arial"/>
              </a:rPr>
              <a:t>Pantau</a:t>
            </a:r>
            <a:r>
              <a:rPr sz="1200" b="1" dirty="0">
                <a:solidFill>
                  <a:srgbClr val="F59E0B"/>
                </a:solidFill>
                <a:latin typeface="Arial"/>
              </a:rPr>
              <a:t> Riwayat </a:t>
            </a:r>
            <a:r>
              <a:rPr sz="1200" b="1" dirty="0" err="1">
                <a:solidFill>
                  <a:srgbClr val="F59E0B"/>
                </a:solidFill>
                <a:latin typeface="Arial"/>
              </a:rPr>
              <a:t>Klaim</a:t>
            </a:r>
            <a:r>
              <a:rPr sz="1200" b="1" dirty="0">
                <a:solidFill>
                  <a:srgbClr val="F59E0B"/>
                </a:solidFill>
                <a:latin typeface="Arial"/>
              </a:rPr>
              <a:t>
</a:t>
            </a:r>
            <a:r>
              <a:rPr sz="1050" dirty="0">
                <a:solidFill>
                  <a:srgbClr val="64748B"/>
                </a:solidFill>
                <a:latin typeface="Arial"/>
              </a:rPr>
              <a:t>Riwayat </a:t>
            </a:r>
            <a:r>
              <a:rPr sz="1050" dirty="0" err="1">
                <a:solidFill>
                  <a:srgbClr val="64748B"/>
                </a:solidFill>
                <a:latin typeface="Arial"/>
              </a:rPr>
              <a:t>penukaran</a:t>
            </a:r>
            <a:r>
              <a:rPr sz="1050" dirty="0">
                <a:solidFill>
                  <a:srgbClr val="64748B"/>
                </a:solidFill>
                <a:latin typeface="Arial"/>
              </a:rPr>
              <a:t> </a:t>
            </a:r>
            <a:r>
              <a:rPr sz="1050" dirty="0" err="1">
                <a:solidFill>
                  <a:srgbClr val="64748B"/>
                </a:solidFill>
                <a:latin typeface="Arial"/>
              </a:rPr>
              <a:t>akan</a:t>
            </a:r>
            <a:r>
              <a:rPr sz="1050" dirty="0">
                <a:solidFill>
                  <a:srgbClr val="64748B"/>
                </a:solidFill>
                <a:latin typeface="Arial"/>
              </a:rPr>
              <a:t> </a:t>
            </a:r>
            <a:r>
              <a:rPr sz="1050" dirty="0" err="1">
                <a:solidFill>
                  <a:srgbClr val="64748B"/>
                </a:solidFill>
                <a:latin typeface="Arial"/>
              </a:rPr>
              <a:t>langsung</a:t>
            </a:r>
            <a:r>
              <a:rPr sz="1050" dirty="0">
                <a:solidFill>
                  <a:srgbClr val="64748B"/>
                </a:solidFill>
                <a:latin typeface="Arial"/>
              </a:rPr>
              <a:t> </a:t>
            </a:r>
            <a:r>
              <a:rPr sz="1050" dirty="0" err="1">
                <a:solidFill>
                  <a:srgbClr val="64748B"/>
                </a:solidFill>
                <a:latin typeface="Arial"/>
              </a:rPr>
              <a:t>tercatat</a:t>
            </a:r>
            <a:r>
              <a:rPr sz="1050" dirty="0">
                <a:solidFill>
                  <a:srgbClr val="64748B"/>
                </a:solidFill>
                <a:latin typeface="Arial"/>
              </a:rPr>
              <a:t> </a:t>
            </a:r>
            <a:r>
              <a:rPr sz="1050" dirty="0" err="1">
                <a:solidFill>
                  <a:srgbClr val="64748B"/>
                </a:solidFill>
                <a:latin typeface="Arial"/>
              </a:rPr>
              <a:t>beserta</a:t>
            </a:r>
            <a:r>
              <a:rPr sz="1050" dirty="0">
                <a:solidFill>
                  <a:srgbClr val="64748B"/>
                </a:solidFill>
                <a:latin typeface="Arial"/>
              </a:rPr>
              <a:t> </a:t>
            </a:r>
            <a:r>
              <a:rPr sz="1050" dirty="0" err="1">
                <a:solidFill>
                  <a:srgbClr val="64748B"/>
                </a:solidFill>
                <a:latin typeface="Arial"/>
              </a:rPr>
              <a:t>kode</a:t>
            </a:r>
            <a:r>
              <a:rPr sz="1050" dirty="0">
                <a:solidFill>
                  <a:srgbClr val="64748B"/>
                </a:solidFill>
                <a:latin typeface="Arial"/>
              </a:rPr>
              <a:t> </a:t>
            </a:r>
            <a:r>
              <a:rPr sz="1050" dirty="0" err="1">
                <a:solidFill>
                  <a:srgbClr val="64748B"/>
                </a:solidFill>
                <a:latin typeface="Arial"/>
              </a:rPr>
              <a:t>verifikasi</a:t>
            </a:r>
            <a:r>
              <a:rPr sz="1050" dirty="0">
                <a:solidFill>
                  <a:srgbClr val="64748B"/>
                </a:solidFill>
                <a:latin typeface="Arial"/>
              </a:rPr>
              <a:t>.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38FD1A8B-60DD-B023-25E5-BBA7B1E9CB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0079" y="2076828"/>
            <a:ext cx="6180465" cy="386279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856133" y="452461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dirty="0">
                <a:solidFill>
                  <a:srgbClr val="059669"/>
                </a:solidFill>
                <a:latin typeface="Arial Black"/>
              </a:rPr>
              <a:t>♻️ RUBBISH APP</a:t>
            </a:r>
            <a:r>
              <a:rPr sz="1100" dirty="0">
                <a:solidFill>
                  <a:srgbClr val="64748B"/>
                </a:solidFill>
                <a:latin typeface="Arial"/>
              </a:rPr>
              <a:t> • USER MANUAL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452628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0D9488"/>
                </a:solidFill>
                <a:latin typeface="Arial"/>
              </a:rPr>
              <a:t>FITUR ADMIN &amp; PETUGAS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800100"/>
            <a:ext cx="3050835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 dirty="0">
                <a:solidFill>
                  <a:srgbClr val="0F172A"/>
                </a:solidFill>
                <a:latin typeface="Arial Black"/>
              </a:rPr>
              <a:t>Panel</a:t>
            </a:r>
            <a:r>
              <a:rPr lang="en-US" sz="2200" b="1" dirty="0">
                <a:solidFill>
                  <a:srgbClr val="0F172A"/>
                </a:solidFill>
                <a:latin typeface="Arial Black"/>
              </a:rPr>
              <a:t> Login Admin</a:t>
            </a:r>
            <a:endParaRPr sz="2200" b="1" dirty="0">
              <a:solidFill>
                <a:srgbClr val="0F172A"/>
              </a:solidFill>
              <a:latin typeface="Arial Black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1463040" cy="32004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PANEL ADMIN</a:t>
            </a:r>
          </a:p>
        </p:txBody>
      </p:sp>
      <p:sp>
        <p:nvSpPr>
          <p:cNvPr id="7" name="Oval 6"/>
          <p:cNvSpPr/>
          <p:nvPr/>
        </p:nvSpPr>
        <p:spPr>
          <a:xfrm>
            <a:off x="11155680" y="822960"/>
            <a:ext cx="54864" cy="548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301984" y="822960"/>
            <a:ext cx="54864" cy="548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1448288" y="822960"/>
            <a:ext cx="54864" cy="548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1594592" y="822960"/>
            <a:ext cx="54864" cy="548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1155680" y="969264"/>
            <a:ext cx="54864" cy="548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1301984" y="969264"/>
            <a:ext cx="54864" cy="548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1448288" y="969264"/>
            <a:ext cx="54864" cy="548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1594592" y="969264"/>
            <a:ext cx="54864" cy="548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1155680" y="1115568"/>
            <a:ext cx="54864" cy="548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1301984" y="1115568"/>
            <a:ext cx="54864" cy="548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1448288" y="1115568"/>
            <a:ext cx="54864" cy="548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1594592" y="1115568"/>
            <a:ext cx="54864" cy="548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748B"/>
                </a:solidFill>
                <a:latin typeface="Arial"/>
              </a:rPr>
              <a:t>Rubbish Digital Platform • www.rubbish.app • Panduan Resmi Pengguna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059669"/>
                </a:solidFill>
                <a:latin typeface="Arial"/>
              </a:rPr>
              <a:t>09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2012945"/>
            <a:ext cx="3764280" cy="34881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dirty="0">
                <a:solidFill>
                  <a:srgbClr val="0F172A"/>
                </a:solidFill>
                <a:latin typeface="Arial"/>
              </a:rPr>
              <a:t>Fitur </a:t>
            </a:r>
            <a:r>
              <a:rPr sz="2800" b="1" dirty="0" err="1">
                <a:solidFill>
                  <a:srgbClr val="0F172A"/>
                </a:solidFill>
                <a:latin typeface="Arial"/>
              </a:rPr>
              <a:t>Operasional</a:t>
            </a:r>
            <a:r>
              <a:rPr sz="2800" b="1" dirty="0">
                <a:solidFill>
                  <a:srgbClr val="0F172A"/>
                </a:solidFill>
                <a:latin typeface="Arial"/>
              </a:rPr>
              <a:t> </a:t>
            </a:r>
            <a:r>
              <a:rPr sz="2800" b="1" dirty="0" err="1">
                <a:solidFill>
                  <a:srgbClr val="0F172A"/>
                </a:solidFill>
                <a:latin typeface="Arial"/>
              </a:rPr>
              <a:t>Petugas</a:t>
            </a:r>
            <a:r>
              <a:rPr sz="2800" b="1" dirty="0">
                <a:solidFill>
                  <a:srgbClr val="0F172A"/>
                </a:solidFill>
                <a:latin typeface="Arial"/>
              </a:rPr>
              <a:t>:</a:t>
            </a:r>
            <a:endParaRPr lang="en-US" sz="2800" b="1" dirty="0">
              <a:solidFill>
                <a:srgbClr val="0F172A"/>
              </a:solidFill>
              <a:latin typeface="Arial"/>
            </a:endParaRPr>
          </a:p>
          <a:p>
            <a:endParaRPr sz="2800" b="1" dirty="0">
              <a:solidFill>
                <a:srgbClr val="0F172A"/>
              </a:solidFill>
              <a:latin typeface="Arial"/>
            </a:endParaRPr>
          </a:p>
          <a:p>
            <a:r>
              <a:rPr b="1" dirty="0">
                <a:solidFill>
                  <a:srgbClr val="0891B2"/>
                </a:solidFill>
                <a:latin typeface="Arial"/>
              </a:rPr>
              <a:t>1. </a:t>
            </a:r>
            <a:r>
              <a:rPr lang="en-US" b="1" dirty="0">
                <a:solidFill>
                  <a:srgbClr val="0891B2"/>
                </a:solidFill>
                <a:latin typeface="Arial"/>
              </a:rPr>
              <a:t>Buka Halaman Login </a:t>
            </a:r>
          </a:p>
          <a:p>
            <a:endParaRPr lang="en-US" sz="1400" dirty="0"/>
          </a:p>
          <a:p>
            <a:r>
              <a:rPr lang="en-US" sz="1400" dirty="0"/>
              <a:t>Masukkan </a:t>
            </a:r>
            <a:r>
              <a:rPr lang="en-US" sz="1400" b="1" dirty="0"/>
              <a:t>username/email admin</a:t>
            </a:r>
            <a:r>
              <a:rPr lang="en-US" sz="1400" dirty="0"/>
              <a:t> yang </a:t>
            </a:r>
            <a:r>
              <a:rPr lang="en-US" sz="1400" dirty="0" err="1"/>
              <a:t>telah</a:t>
            </a:r>
            <a:r>
              <a:rPr lang="en-US" sz="1400" dirty="0"/>
              <a:t> </a:t>
            </a:r>
            <a:r>
              <a:rPr lang="en-US" sz="1400" dirty="0" err="1"/>
              <a:t>tersedia</a:t>
            </a:r>
            <a:r>
              <a:rPr lang="en-US" sz="1400" dirty="0"/>
              <a:t>. </a:t>
            </a:r>
          </a:p>
          <a:p>
            <a:r>
              <a:rPr lang="en-US" sz="1400" dirty="0"/>
              <a:t>Masukkan </a:t>
            </a:r>
            <a:r>
              <a:rPr lang="en-US" sz="1400" b="1" dirty="0"/>
              <a:t>password admin</a:t>
            </a:r>
            <a:r>
              <a:rPr lang="en-US" sz="1400" dirty="0"/>
              <a:t>. </a:t>
            </a:r>
          </a:p>
          <a:p>
            <a:r>
              <a:rPr lang="en-US" sz="1400" dirty="0" err="1"/>
              <a:t>Klik</a:t>
            </a:r>
            <a:r>
              <a:rPr lang="en-US" sz="1400" dirty="0"/>
              <a:t> </a:t>
            </a:r>
            <a:r>
              <a:rPr lang="en-US" sz="1400" dirty="0" err="1"/>
              <a:t>tombol</a:t>
            </a:r>
            <a:r>
              <a:rPr lang="en-US" sz="1400" dirty="0"/>
              <a:t> </a:t>
            </a:r>
            <a:r>
              <a:rPr lang="en-US" sz="1400" b="1" dirty="0"/>
              <a:t>“Masuk </a:t>
            </a:r>
            <a:r>
              <a:rPr lang="en-US" sz="1400" b="1" dirty="0" err="1"/>
              <a:t>ke</a:t>
            </a:r>
            <a:r>
              <a:rPr lang="en-US" sz="1400" b="1" dirty="0"/>
              <a:t> Akun”</a:t>
            </a:r>
            <a:r>
              <a:rPr lang="en-US" sz="1400" dirty="0"/>
              <a:t>. </a:t>
            </a:r>
          </a:p>
          <a:p>
            <a:r>
              <a:rPr lang="en-US" sz="1400" dirty="0"/>
              <a:t>Jika data login </a:t>
            </a:r>
            <a:r>
              <a:rPr lang="en-US" sz="1400" dirty="0" err="1"/>
              <a:t>benar</a:t>
            </a:r>
            <a:r>
              <a:rPr lang="en-US" sz="1400" dirty="0"/>
              <a:t>, admin </a:t>
            </a:r>
            <a:r>
              <a:rPr lang="en-US" sz="1400" dirty="0" err="1"/>
              <a:t>akan</a:t>
            </a:r>
            <a:r>
              <a:rPr lang="en-US" sz="1400" dirty="0"/>
              <a:t> </a:t>
            </a:r>
            <a:r>
              <a:rPr lang="en-US" sz="1400" dirty="0" err="1"/>
              <a:t>diarahkan</a:t>
            </a:r>
            <a:r>
              <a:rPr lang="en-US" sz="1400" dirty="0"/>
              <a:t> </a:t>
            </a:r>
            <a:r>
              <a:rPr lang="en-US" sz="1400" dirty="0" err="1"/>
              <a:t>ke</a:t>
            </a:r>
            <a:r>
              <a:rPr lang="en-US" sz="1400" dirty="0"/>
              <a:t> </a:t>
            </a:r>
            <a:r>
              <a:rPr lang="en-US" sz="1400" b="1" dirty="0" err="1"/>
              <a:t>halaman</a:t>
            </a:r>
            <a:r>
              <a:rPr lang="en-US" sz="1400" b="1" dirty="0"/>
              <a:t> dashboard admin</a:t>
            </a:r>
            <a:r>
              <a:rPr lang="en-US" sz="1400" dirty="0"/>
              <a:t>.</a:t>
            </a:r>
          </a:p>
          <a:p>
            <a:pPr>
              <a:spcBef>
                <a:spcPts val="800"/>
              </a:spcBef>
            </a:pPr>
            <a:endParaRPr lang="en-US" sz="1400" dirty="0">
              <a:solidFill>
                <a:srgbClr val="64748B"/>
              </a:solidFill>
              <a:latin typeface="Arial"/>
            </a:endParaRP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8382F1BF-DF22-F6C8-B13A-3C8B632F31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920" y="1912789"/>
            <a:ext cx="6463928" cy="403995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143DA3-951D-6F03-F5CD-E28B246505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62C450E-5AB5-A06F-9DBC-AD9753D173E9}"/>
              </a:ext>
            </a:extLst>
          </p:cNvPr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8DEFFBC-DE53-9E24-C33A-B04E2F1C436A}"/>
              </a:ext>
            </a:extLst>
          </p:cNvPr>
          <p:cNvSpPr txBox="1"/>
          <p:nvPr/>
        </p:nvSpPr>
        <p:spPr>
          <a:xfrm>
            <a:off x="8856133" y="452461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dirty="0">
                <a:solidFill>
                  <a:srgbClr val="059669"/>
                </a:solidFill>
                <a:latin typeface="Arial Black"/>
              </a:rPr>
              <a:t>♻️ RUBBISH APP</a:t>
            </a:r>
            <a:r>
              <a:rPr sz="1100" dirty="0">
                <a:solidFill>
                  <a:srgbClr val="64748B"/>
                </a:solidFill>
                <a:latin typeface="Arial"/>
              </a:rPr>
              <a:t> • USER MANUAL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4B1A357-6984-F567-4D63-876DFDAE322F}"/>
              </a:ext>
            </a:extLst>
          </p:cNvPr>
          <p:cNvSpPr txBox="1"/>
          <p:nvPr/>
        </p:nvSpPr>
        <p:spPr>
          <a:xfrm>
            <a:off x="609600" y="452628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0D9488"/>
                </a:solidFill>
                <a:latin typeface="Arial"/>
              </a:rPr>
              <a:t>FITUR ADMIN &amp; PETUGAS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CBCFA6-F724-C0F3-4C4C-C6305DC5CE43}"/>
              </a:ext>
            </a:extLst>
          </p:cNvPr>
          <p:cNvSpPr txBox="1"/>
          <p:nvPr/>
        </p:nvSpPr>
        <p:spPr>
          <a:xfrm>
            <a:off x="609600" y="800100"/>
            <a:ext cx="7772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 dirty="0">
                <a:solidFill>
                  <a:srgbClr val="0F172A"/>
                </a:solidFill>
                <a:latin typeface="Arial Black"/>
              </a:rPr>
              <a:t>Panel </a:t>
            </a:r>
            <a:r>
              <a:rPr sz="2200" b="1" dirty="0" err="1">
                <a:solidFill>
                  <a:srgbClr val="0F172A"/>
                </a:solidFill>
                <a:latin typeface="Arial Black"/>
              </a:rPr>
              <a:t>Verifikasi</a:t>
            </a:r>
            <a:r>
              <a:rPr sz="2200" b="1" dirty="0">
                <a:solidFill>
                  <a:srgbClr val="0F172A"/>
                </a:solidFill>
                <a:latin typeface="Arial Black"/>
              </a:rPr>
              <a:t> &amp; </a:t>
            </a:r>
            <a:r>
              <a:rPr sz="2200" b="1" dirty="0" err="1">
                <a:solidFill>
                  <a:srgbClr val="0F172A"/>
                </a:solidFill>
                <a:latin typeface="Arial Black"/>
              </a:rPr>
              <a:t>Penimbangan</a:t>
            </a:r>
            <a:r>
              <a:rPr sz="2200" b="1" dirty="0">
                <a:solidFill>
                  <a:srgbClr val="0F172A"/>
                </a:solidFill>
                <a:latin typeface="Arial Black"/>
              </a:rPr>
              <a:t> </a:t>
            </a:r>
            <a:r>
              <a:rPr sz="2200" b="1" dirty="0" err="1">
                <a:solidFill>
                  <a:srgbClr val="0F172A"/>
                </a:solidFill>
                <a:latin typeface="Arial Black"/>
              </a:rPr>
              <a:t>Sampah</a:t>
            </a:r>
            <a:endParaRPr sz="2200" b="1" dirty="0">
              <a:solidFill>
                <a:srgbClr val="0F172A"/>
              </a:solidFill>
              <a:latin typeface="Arial Black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65479D9C-7AA5-4492-F6E9-A8B2DC7F0431}"/>
              </a:ext>
            </a:extLst>
          </p:cNvPr>
          <p:cNvSpPr/>
          <p:nvPr/>
        </p:nvSpPr>
        <p:spPr>
          <a:xfrm>
            <a:off x="731520" y="1371600"/>
            <a:ext cx="1463040" cy="32004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PANEL ADMIN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4703F6B-E827-8466-0994-E76A438338F2}"/>
              </a:ext>
            </a:extLst>
          </p:cNvPr>
          <p:cNvSpPr/>
          <p:nvPr/>
        </p:nvSpPr>
        <p:spPr>
          <a:xfrm>
            <a:off x="11155680" y="822960"/>
            <a:ext cx="54864" cy="548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1970D206-DAAF-6537-77C8-F383FD4BF456}"/>
              </a:ext>
            </a:extLst>
          </p:cNvPr>
          <p:cNvSpPr/>
          <p:nvPr/>
        </p:nvSpPr>
        <p:spPr>
          <a:xfrm>
            <a:off x="11301984" y="822960"/>
            <a:ext cx="54864" cy="548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69D7B49-C157-445E-5A28-5938F58E44B3}"/>
              </a:ext>
            </a:extLst>
          </p:cNvPr>
          <p:cNvSpPr/>
          <p:nvPr/>
        </p:nvSpPr>
        <p:spPr>
          <a:xfrm>
            <a:off x="11448288" y="822960"/>
            <a:ext cx="54864" cy="548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3970F28-746B-D6C3-D9B0-38B5C8C424FD}"/>
              </a:ext>
            </a:extLst>
          </p:cNvPr>
          <p:cNvSpPr/>
          <p:nvPr/>
        </p:nvSpPr>
        <p:spPr>
          <a:xfrm>
            <a:off x="11594592" y="822960"/>
            <a:ext cx="54864" cy="548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8747687F-F1CF-0634-8C51-5000BCB0AAAB}"/>
              </a:ext>
            </a:extLst>
          </p:cNvPr>
          <p:cNvSpPr/>
          <p:nvPr/>
        </p:nvSpPr>
        <p:spPr>
          <a:xfrm>
            <a:off x="11155680" y="969264"/>
            <a:ext cx="54864" cy="548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3D57F5A-27A2-514E-032E-AD1BBFDDCB5F}"/>
              </a:ext>
            </a:extLst>
          </p:cNvPr>
          <p:cNvSpPr/>
          <p:nvPr/>
        </p:nvSpPr>
        <p:spPr>
          <a:xfrm>
            <a:off x="11301984" y="969264"/>
            <a:ext cx="54864" cy="548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C27385BF-5C51-A4E5-EA1D-B75D3D0EA813}"/>
              </a:ext>
            </a:extLst>
          </p:cNvPr>
          <p:cNvSpPr/>
          <p:nvPr/>
        </p:nvSpPr>
        <p:spPr>
          <a:xfrm>
            <a:off x="11448288" y="969264"/>
            <a:ext cx="54864" cy="548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84D4556C-613D-45E9-CF18-5B6216FD8BBD}"/>
              </a:ext>
            </a:extLst>
          </p:cNvPr>
          <p:cNvSpPr/>
          <p:nvPr/>
        </p:nvSpPr>
        <p:spPr>
          <a:xfrm>
            <a:off x="11594592" y="969264"/>
            <a:ext cx="54864" cy="548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DCE56F28-FCB6-F72A-DAF1-6BA302F3D41D}"/>
              </a:ext>
            </a:extLst>
          </p:cNvPr>
          <p:cNvSpPr/>
          <p:nvPr/>
        </p:nvSpPr>
        <p:spPr>
          <a:xfrm>
            <a:off x="11155680" y="1115568"/>
            <a:ext cx="54864" cy="548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55F5E4F9-3435-CA1D-4971-60E08A621195}"/>
              </a:ext>
            </a:extLst>
          </p:cNvPr>
          <p:cNvSpPr/>
          <p:nvPr/>
        </p:nvSpPr>
        <p:spPr>
          <a:xfrm>
            <a:off x="11301984" y="1115568"/>
            <a:ext cx="54864" cy="548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A704FB8E-5D55-D512-6845-CF08D2DCA463}"/>
              </a:ext>
            </a:extLst>
          </p:cNvPr>
          <p:cNvSpPr/>
          <p:nvPr/>
        </p:nvSpPr>
        <p:spPr>
          <a:xfrm>
            <a:off x="11448288" y="1115568"/>
            <a:ext cx="54864" cy="548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A469CAC-E2C1-54D4-F77D-89E738CA9A79}"/>
              </a:ext>
            </a:extLst>
          </p:cNvPr>
          <p:cNvSpPr/>
          <p:nvPr/>
        </p:nvSpPr>
        <p:spPr>
          <a:xfrm>
            <a:off x="11594592" y="1115568"/>
            <a:ext cx="54864" cy="548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CFE7A3C-5BFC-DC4F-D73D-C5E1406E1096}"/>
              </a:ext>
            </a:extLst>
          </p:cNvPr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E584C08-2B68-81DA-1C74-C9D447C41A78}"/>
              </a:ext>
            </a:extLst>
          </p:cNvPr>
          <p:cNvSpPr txBox="1"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748B"/>
                </a:solidFill>
                <a:latin typeface="Arial"/>
              </a:rPr>
              <a:t>Rubbish Digital Platform • www.rubbish.app • Panduan Resmi Pengguna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CEE8B3C-DDFF-4089-0007-078917EC9429}"/>
              </a:ext>
            </a:extLst>
          </p:cNvPr>
          <p:cNvSpPr txBox="1"/>
          <p:nvPr/>
        </p:nvSpPr>
        <p:spPr>
          <a:xfrm>
            <a:off x="11104269" y="6446520"/>
            <a:ext cx="325731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en-US" sz="1000" b="1" dirty="0">
                <a:solidFill>
                  <a:srgbClr val="059669"/>
                </a:solidFill>
                <a:latin typeface="Arial"/>
              </a:rPr>
              <a:t>10</a:t>
            </a:r>
            <a:endParaRPr sz="1000" b="1" dirty="0">
              <a:solidFill>
                <a:srgbClr val="059669"/>
              </a:solidFill>
              <a:latin typeface="Arial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1478E32-72B4-183A-4FFC-440EDAF7415C}"/>
              </a:ext>
            </a:extLst>
          </p:cNvPr>
          <p:cNvSpPr txBox="1"/>
          <p:nvPr/>
        </p:nvSpPr>
        <p:spPr>
          <a:xfrm>
            <a:off x="731520" y="1828800"/>
            <a:ext cx="3764280" cy="4196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dirty="0">
                <a:solidFill>
                  <a:srgbClr val="0F172A"/>
                </a:solidFill>
                <a:latin typeface="Arial"/>
              </a:rPr>
              <a:t>Fitur </a:t>
            </a:r>
            <a:r>
              <a:rPr sz="2000" b="1" dirty="0" err="1">
                <a:solidFill>
                  <a:srgbClr val="0F172A"/>
                </a:solidFill>
                <a:latin typeface="Arial"/>
              </a:rPr>
              <a:t>Operasional</a:t>
            </a:r>
            <a:r>
              <a:rPr sz="2000" b="1" dirty="0">
                <a:solidFill>
                  <a:srgbClr val="0F172A"/>
                </a:solidFill>
                <a:latin typeface="Arial"/>
              </a:rPr>
              <a:t> </a:t>
            </a:r>
            <a:r>
              <a:rPr sz="2000" b="1" dirty="0" err="1">
                <a:solidFill>
                  <a:srgbClr val="0F172A"/>
                </a:solidFill>
                <a:latin typeface="Arial"/>
              </a:rPr>
              <a:t>Petugas</a:t>
            </a:r>
            <a:r>
              <a:rPr sz="2000" b="1" dirty="0">
                <a:solidFill>
                  <a:srgbClr val="0F172A"/>
                </a:solidFill>
                <a:latin typeface="Arial"/>
              </a:rPr>
              <a:t>:</a:t>
            </a:r>
          </a:p>
          <a:p>
            <a:pPr>
              <a:spcBef>
                <a:spcPts val="800"/>
              </a:spcBef>
            </a:pPr>
            <a:r>
              <a:rPr sz="1400" b="1" dirty="0">
                <a:solidFill>
                  <a:srgbClr val="0891B2"/>
                </a:solidFill>
                <a:latin typeface="Arial"/>
              </a:rPr>
              <a:t>1. </a:t>
            </a:r>
            <a:r>
              <a:rPr sz="1400" b="1" dirty="0" err="1">
                <a:solidFill>
                  <a:srgbClr val="0891B2"/>
                </a:solidFill>
                <a:latin typeface="Arial"/>
              </a:rPr>
              <a:t>Verifikasi</a:t>
            </a:r>
            <a:r>
              <a:rPr sz="1400" b="1" dirty="0">
                <a:solidFill>
                  <a:srgbClr val="0891B2"/>
                </a:solidFill>
                <a:latin typeface="Arial"/>
              </a:rPr>
              <a:t> </a:t>
            </a:r>
            <a:r>
              <a:rPr sz="1400" b="1" dirty="0" err="1">
                <a:solidFill>
                  <a:srgbClr val="0891B2"/>
                </a:solidFill>
                <a:latin typeface="Arial"/>
              </a:rPr>
              <a:t>Laporan</a:t>
            </a:r>
            <a:r>
              <a:rPr sz="1400" b="1" dirty="0">
                <a:solidFill>
                  <a:srgbClr val="0891B2"/>
                </a:solidFill>
                <a:latin typeface="Arial"/>
              </a:rPr>
              <a:t> Masuk
</a:t>
            </a:r>
            <a:r>
              <a:rPr sz="1100" dirty="0">
                <a:solidFill>
                  <a:srgbClr val="64748B"/>
                </a:solidFill>
                <a:latin typeface="Arial"/>
              </a:rPr>
              <a:t>Admin </a:t>
            </a:r>
            <a:r>
              <a:rPr sz="1100" dirty="0" err="1">
                <a:solidFill>
                  <a:srgbClr val="64748B"/>
                </a:solidFill>
                <a:latin typeface="Arial"/>
              </a:rPr>
              <a:t>meninjau</a:t>
            </a:r>
            <a:r>
              <a:rPr sz="1100" dirty="0">
                <a:solidFill>
                  <a:srgbClr val="64748B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64748B"/>
                </a:solidFill>
                <a:latin typeface="Arial"/>
              </a:rPr>
              <a:t>kelayakan</a:t>
            </a:r>
            <a:r>
              <a:rPr sz="1100" dirty="0">
                <a:solidFill>
                  <a:srgbClr val="64748B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64748B"/>
                </a:solidFill>
                <a:latin typeface="Arial"/>
              </a:rPr>
              <a:t>foto</a:t>
            </a:r>
            <a:r>
              <a:rPr sz="1100" dirty="0">
                <a:solidFill>
                  <a:srgbClr val="64748B"/>
                </a:solidFill>
                <a:latin typeface="Arial"/>
              </a:rPr>
              <a:t>, </a:t>
            </a:r>
            <a:r>
              <a:rPr sz="1100" dirty="0" err="1">
                <a:solidFill>
                  <a:srgbClr val="64748B"/>
                </a:solidFill>
                <a:latin typeface="Arial"/>
              </a:rPr>
              <a:t>jenis</a:t>
            </a:r>
            <a:r>
              <a:rPr sz="1100" dirty="0">
                <a:solidFill>
                  <a:srgbClr val="64748B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64748B"/>
                </a:solidFill>
                <a:latin typeface="Arial"/>
              </a:rPr>
              <a:t>sampah</a:t>
            </a:r>
            <a:r>
              <a:rPr sz="1100" dirty="0">
                <a:solidFill>
                  <a:srgbClr val="64748B"/>
                </a:solidFill>
                <a:latin typeface="Arial"/>
              </a:rPr>
              <a:t>, dan </a:t>
            </a:r>
            <a:r>
              <a:rPr sz="1100" dirty="0" err="1">
                <a:solidFill>
                  <a:srgbClr val="64748B"/>
                </a:solidFill>
                <a:latin typeface="Arial"/>
              </a:rPr>
              <a:t>menentukan</a:t>
            </a:r>
            <a:r>
              <a:rPr sz="1100" dirty="0">
                <a:solidFill>
                  <a:srgbClr val="64748B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64748B"/>
                </a:solidFill>
                <a:latin typeface="Arial"/>
              </a:rPr>
              <a:t>jadwal</a:t>
            </a:r>
            <a:r>
              <a:rPr sz="1100" dirty="0">
                <a:solidFill>
                  <a:srgbClr val="64748B"/>
                </a:solidFill>
                <a:latin typeface="Arial"/>
              </a:rPr>
              <a:t> pickup.</a:t>
            </a:r>
          </a:p>
          <a:p>
            <a:pPr>
              <a:spcBef>
                <a:spcPts val="800"/>
              </a:spcBef>
            </a:pPr>
            <a:r>
              <a:rPr sz="1400" b="1" dirty="0">
                <a:solidFill>
                  <a:srgbClr val="0891B2"/>
                </a:solidFill>
                <a:latin typeface="Arial"/>
              </a:rPr>
              <a:t>2. Input Berat </a:t>
            </a:r>
            <a:r>
              <a:rPr sz="1400" b="1" dirty="0" err="1">
                <a:solidFill>
                  <a:srgbClr val="0891B2"/>
                </a:solidFill>
                <a:latin typeface="Arial"/>
              </a:rPr>
              <a:t>Riil</a:t>
            </a:r>
            <a:r>
              <a:rPr sz="1400" b="1" dirty="0">
                <a:solidFill>
                  <a:srgbClr val="0891B2"/>
                </a:solidFill>
                <a:latin typeface="Arial"/>
              </a:rPr>
              <a:t> </a:t>
            </a:r>
            <a:r>
              <a:rPr sz="1400" b="1" dirty="0" err="1">
                <a:solidFill>
                  <a:srgbClr val="0891B2"/>
                </a:solidFill>
                <a:latin typeface="Arial"/>
              </a:rPr>
              <a:t>Lapangan</a:t>
            </a:r>
            <a:r>
              <a:rPr sz="1400" b="1" dirty="0">
                <a:solidFill>
                  <a:srgbClr val="0891B2"/>
                </a:solidFill>
                <a:latin typeface="Arial"/>
              </a:rPr>
              <a:t>
</a:t>
            </a:r>
            <a:r>
              <a:rPr sz="1100" dirty="0" err="1">
                <a:solidFill>
                  <a:srgbClr val="64748B"/>
                </a:solidFill>
                <a:latin typeface="Arial"/>
              </a:rPr>
              <a:t>Setelah</a:t>
            </a:r>
            <a:r>
              <a:rPr sz="1100" dirty="0">
                <a:solidFill>
                  <a:srgbClr val="64748B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64748B"/>
                </a:solidFill>
                <a:latin typeface="Arial"/>
              </a:rPr>
              <a:t>sampah</a:t>
            </a:r>
            <a:r>
              <a:rPr sz="1100" dirty="0">
                <a:solidFill>
                  <a:srgbClr val="64748B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64748B"/>
                </a:solidFill>
                <a:latin typeface="Arial"/>
              </a:rPr>
              <a:t>ditimbang</a:t>
            </a:r>
            <a:r>
              <a:rPr sz="1100" dirty="0">
                <a:solidFill>
                  <a:srgbClr val="64748B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64748B"/>
                </a:solidFill>
                <a:latin typeface="Arial"/>
              </a:rPr>
              <a:t>langsung</a:t>
            </a:r>
            <a:r>
              <a:rPr sz="1100" dirty="0">
                <a:solidFill>
                  <a:srgbClr val="64748B"/>
                </a:solidFill>
                <a:latin typeface="Arial"/>
              </a:rPr>
              <a:t> di </a:t>
            </a:r>
            <a:r>
              <a:rPr sz="1100" dirty="0" err="1">
                <a:solidFill>
                  <a:srgbClr val="64748B"/>
                </a:solidFill>
                <a:latin typeface="Arial"/>
              </a:rPr>
              <a:t>lokasi</a:t>
            </a:r>
            <a:r>
              <a:rPr sz="1100" dirty="0">
                <a:solidFill>
                  <a:srgbClr val="64748B"/>
                </a:solidFill>
                <a:latin typeface="Arial"/>
              </a:rPr>
              <a:t>, admin </a:t>
            </a:r>
            <a:r>
              <a:rPr sz="1100" dirty="0" err="1">
                <a:solidFill>
                  <a:srgbClr val="64748B"/>
                </a:solidFill>
                <a:latin typeface="Arial"/>
              </a:rPr>
              <a:t>menginput</a:t>
            </a:r>
            <a:r>
              <a:rPr sz="1100" dirty="0">
                <a:solidFill>
                  <a:srgbClr val="64748B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64748B"/>
                </a:solidFill>
                <a:latin typeface="Arial"/>
              </a:rPr>
              <a:t>berat</a:t>
            </a:r>
            <a:r>
              <a:rPr sz="1100" dirty="0">
                <a:solidFill>
                  <a:srgbClr val="64748B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64748B"/>
                </a:solidFill>
                <a:latin typeface="Arial"/>
              </a:rPr>
              <a:t>aktual</a:t>
            </a:r>
            <a:r>
              <a:rPr sz="1100" dirty="0">
                <a:solidFill>
                  <a:srgbClr val="64748B"/>
                </a:solidFill>
                <a:latin typeface="Arial"/>
              </a:rPr>
              <a:t> (Kg).</a:t>
            </a:r>
          </a:p>
          <a:p>
            <a:pPr>
              <a:spcBef>
                <a:spcPts val="800"/>
              </a:spcBef>
            </a:pPr>
            <a:r>
              <a:rPr sz="1400" b="1" dirty="0">
                <a:solidFill>
                  <a:srgbClr val="0891B2"/>
                </a:solidFill>
                <a:latin typeface="Arial"/>
              </a:rPr>
              <a:t>3. </a:t>
            </a:r>
            <a:r>
              <a:rPr sz="1400" b="1" dirty="0" err="1">
                <a:solidFill>
                  <a:srgbClr val="0891B2"/>
                </a:solidFill>
                <a:latin typeface="Arial"/>
              </a:rPr>
              <a:t>Kalkulasi</a:t>
            </a:r>
            <a:r>
              <a:rPr sz="1400" b="1" dirty="0">
                <a:solidFill>
                  <a:srgbClr val="0891B2"/>
                </a:solidFill>
                <a:latin typeface="Arial"/>
              </a:rPr>
              <a:t> </a:t>
            </a:r>
            <a:r>
              <a:rPr sz="1400" b="1" dirty="0" err="1">
                <a:solidFill>
                  <a:srgbClr val="0891B2"/>
                </a:solidFill>
                <a:latin typeface="Arial"/>
              </a:rPr>
              <a:t>Otomatis</a:t>
            </a:r>
            <a:r>
              <a:rPr sz="1400" b="1" dirty="0">
                <a:solidFill>
                  <a:srgbClr val="0891B2"/>
                </a:solidFill>
                <a:latin typeface="Arial"/>
              </a:rPr>
              <a:t> </a:t>
            </a:r>
            <a:r>
              <a:rPr sz="1400" b="1" dirty="0" err="1">
                <a:solidFill>
                  <a:srgbClr val="0891B2"/>
                </a:solidFill>
                <a:latin typeface="Arial"/>
              </a:rPr>
              <a:t>Poin</a:t>
            </a:r>
            <a:r>
              <a:rPr sz="1400" b="1" dirty="0">
                <a:solidFill>
                  <a:srgbClr val="0891B2"/>
                </a:solidFill>
                <a:latin typeface="Arial"/>
              </a:rPr>
              <a:t>
</a:t>
            </a:r>
            <a:r>
              <a:rPr sz="1100" dirty="0" err="1">
                <a:solidFill>
                  <a:srgbClr val="64748B"/>
                </a:solidFill>
                <a:latin typeface="Arial"/>
              </a:rPr>
              <a:t>Sistem</a:t>
            </a:r>
            <a:r>
              <a:rPr sz="1100" dirty="0">
                <a:solidFill>
                  <a:srgbClr val="64748B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64748B"/>
                </a:solidFill>
                <a:latin typeface="Arial"/>
              </a:rPr>
              <a:t>otomatis</a:t>
            </a:r>
            <a:r>
              <a:rPr sz="1100" dirty="0">
                <a:solidFill>
                  <a:srgbClr val="64748B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64748B"/>
                </a:solidFill>
                <a:latin typeface="Arial"/>
              </a:rPr>
              <a:t>menghitung</a:t>
            </a:r>
            <a:r>
              <a:rPr sz="1100" dirty="0">
                <a:solidFill>
                  <a:srgbClr val="64748B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64748B"/>
                </a:solidFill>
                <a:latin typeface="Arial"/>
              </a:rPr>
              <a:t>poin</a:t>
            </a:r>
            <a:r>
              <a:rPr sz="1100" dirty="0">
                <a:solidFill>
                  <a:srgbClr val="64748B"/>
                </a:solidFill>
                <a:latin typeface="Arial"/>
              </a:rPr>
              <a:t> user </a:t>
            </a:r>
            <a:r>
              <a:rPr sz="1100" dirty="0" err="1">
                <a:solidFill>
                  <a:srgbClr val="64748B"/>
                </a:solidFill>
                <a:latin typeface="Arial"/>
              </a:rPr>
              <a:t>berdasarkan</a:t>
            </a:r>
            <a:r>
              <a:rPr sz="1100" dirty="0">
                <a:solidFill>
                  <a:srgbClr val="64748B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64748B"/>
                </a:solidFill>
                <a:latin typeface="Arial"/>
              </a:rPr>
              <a:t>tarif</a:t>
            </a:r>
            <a:r>
              <a:rPr sz="1100" dirty="0">
                <a:solidFill>
                  <a:srgbClr val="64748B"/>
                </a:solidFill>
                <a:latin typeface="Arial"/>
              </a:rPr>
              <a:t> per Kg </a:t>
            </a:r>
            <a:r>
              <a:rPr sz="1100" dirty="0" err="1">
                <a:solidFill>
                  <a:srgbClr val="64748B"/>
                </a:solidFill>
                <a:latin typeface="Arial"/>
              </a:rPr>
              <a:t>jenis</a:t>
            </a:r>
            <a:r>
              <a:rPr sz="1100" dirty="0">
                <a:solidFill>
                  <a:srgbClr val="64748B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64748B"/>
                </a:solidFill>
                <a:latin typeface="Arial"/>
              </a:rPr>
              <a:t>sampah</a:t>
            </a:r>
            <a:r>
              <a:rPr sz="1100" dirty="0">
                <a:solidFill>
                  <a:srgbClr val="64748B"/>
                </a:solidFill>
                <a:latin typeface="Arial"/>
              </a:rPr>
              <a:t>.</a:t>
            </a:r>
          </a:p>
          <a:p>
            <a:pPr>
              <a:spcBef>
                <a:spcPts val="800"/>
              </a:spcBef>
            </a:pPr>
            <a:r>
              <a:rPr sz="1400" b="1" dirty="0">
                <a:solidFill>
                  <a:srgbClr val="0891B2"/>
                </a:solidFill>
                <a:latin typeface="Arial"/>
              </a:rPr>
              <a:t>4. </a:t>
            </a:r>
            <a:r>
              <a:rPr sz="1400" b="1" dirty="0" err="1">
                <a:solidFill>
                  <a:srgbClr val="0891B2"/>
                </a:solidFill>
                <a:latin typeface="Arial"/>
              </a:rPr>
              <a:t>Manajemen</a:t>
            </a:r>
            <a:r>
              <a:rPr sz="1400" b="1" dirty="0">
                <a:solidFill>
                  <a:srgbClr val="0891B2"/>
                </a:solidFill>
                <a:latin typeface="Arial"/>
              </a:rPr>
              <a:t> Stok Reward
</a:t>
            </a:r>
            <a:r>
              <a:rPr sz="1100" dirty="0">
                <a:solidFill>
                  <a:srgbClr val="64748B"/>
                </a:solidFill>
                <a:latin typeface="Arial"/>
              </a:rPr>
              <a:t>Admin </a:t>
            </a:r>
            <a:r>
              <a:rPr sz="1100" dirty="0" err="1">
                <a:solidFill>
                  <a:srgbClr val="64748B"/>
                </a:solidFill>
                <a:latin typeface="Arial"/>
              </a:rPr>
              <a:t>dapat</a:t>
            </a:r>
            <a:r>
              <a:rPr sz="1100" dirty="0">
                <a:solidFill>
                  <a:srgbClr val="64748B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64748B"/>
                </a:solidFill>
                <a:latin typeface="Arial"/>
              </a:rPr>
              <a:t>menambah</a:t>
            </a:r>
            <a:r>
              <a:rPr sz="1100" dirty="0">
                <a:solidFill>
                  <a:srgbClr val="64748B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64748B"/>
                </a:solidFill>
                <a:latin typeface="Arial"/>
              </a:rPr>
              <a:t>atau</a:t>
            </a:r>
            <a:r>
              <a:rPr sz="1100" dirty="0">
                <a:solidFill>
                  <a:srgbClr val="64748B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64748B"/>
                </a:solidFill>
                <a:latin typeface="Arial"/>
              </a:rPr>
              <a:t>mengupdate</a:t>
            </a:r>
            <a:r>
              <a:rPr sz="1100" dirty="0">
                <a:solidFill>
                  <a:srgbClr val="64748B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64748B"/>
                </a:solidFill>
                <a:latin typeface="Arial"/>
              </a:rPr>
              <a:t>ketersediaan</a:t>
            </a:r>
            <a:r>
              <a:rPr sz="1100" dirty="0">
                <a:solidFill>
                  <a:srgbClr val="64748B"/>
                </a:solidFill>
                <a:latin typeface="Arial"/>
              </a:rPr>
              <a:t> voucher dan </a:t>
            </a:r>
            <a:r>
              <a:rPr sz="1100" dirty="0" err="1">
                <a:solidFill>
                  <a:srgbClr val="64748B"/>
                </a:solidFill>
                <a:latin typeface="Arial"/>
              </a:rPr>
              <a:t>hadiah</a:t>
            </a:r>
            <a:r>
              <a:rPr sz="1100" dirty="0">
                <a:solidFill>
                  <a:srgbClr val="64748B"/>
                </a:solidFill>
                <a:latin typeface="Arial"/>
              </a:rPr>
              <a:t>.</a:t>
            </a:r>
          </a:p>
          <a:p>
            <a:pPr>
              <a:spcBef>
                <a:spcPts val="800"/>
              </a:spcBef>
            </a:pPr>
            <a:r>
              <a:rPr sz="1400" b="1" dirty="0">
                <a:solidFill>
                  <a:srgbClr val="0891B2"/>
                </a:solidFill>
                <a:latin typeface="Arial"/>
              </a:rPr>
              <a:t>5. </a:t>
            </a:r>
            <a:r>
              <a:rPr sz="1400" b="1" dirty="0" err="1">
                <a:solidFill>
                  <a:srgbClr val="0891B2"/>
                </a:solidFill>
                <a:latin typeface="Arial"/>
              </a:rPr>
              <a:t>Pemantauan</a:t>
            </a:r>
            <a:r>
              <a:rPr sz="1400" b="1" dirty="0">
                <a:solidFill>
                  <a:srgbClr val="0891B2"/>
                </a:solidFill>
                <a:latin typeface="Arial"/>
              </a:rPr>
              <a:t> </a:t>
            </a:r>
            <a:r>
              <a:rPr sz="1400" b="1" dirty="0" err="1">
                <a:solidFill>
                  <a:srgbClr val="0891B2"/>
                </a:solidFill>
                <a:latin typeface="Arial"/>
              </a:rPr>
              <a:t>Transaksi</a:t>
            </a:r>
            <a:r>
              <a:rPr sz="1400" b="1" dirty="0">
                <a:solidFill>
                  <a:srgbClr val="0891B2"/>
                </a:solidFill>
                <a:latin typeface="Arial"/>
              </a:rPr>
              <a:t>
</a:t>
            </a:r>
            <a:r>
              <a:rPr sz="1100" dirty="0" err="1">
                <a:solidFill>
                  <a:srgbClr val="64748B"/>
                </a:solidFill>
                <a:latin typeface="Arial"/>
              </a:rPr>
              <a:t>Rekapitulasi</a:t>
            </a:r>
            <a:r>
              <a:rPr sz="1100" dirty="0">
                <a:solidFill>
                  <a:srgbClr val="64748B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64748B"/>
                </a:solidFill>
                <a:latin typeface="Arial"/>
              </a:rPr>
              <a:t>berkala</a:t>
            </a:r>
            <a:r>
              <a:rPr sz="1100" dirty="0">
                <a:solidFill>
                  <a:srgbClr val="64748B"/>
                </a:solidFill>
                <a:latin typeface="Arial"/>
              </a:rPr>
              <a:t> data </a:t>
            </a:r>
            <a:r>
              <a:rPr sz="1100" dirty="0" err="1">
                <a:solidFill>
                  <a:srgbClr val="64748B"/>
                </a:solidFill>
                <a:latin typeface="Arial"/>
              </a:rPr>
              <a:t>setoran</a:t>
            </a:r>
            <a:r>
              <a:rPr sz="1100" dirty="0">
                <a:solidFill>
                  <a:srgbClr val="64748B"/>
                </a:solidFill>
                <a:latin typeface="Arial"/>
              </a:rPr>
              <a:t> per wilayah </a:t>
            </a:r>
            <a:r>
              <a:rPr sz="1100" dirty="0" err="1">
                <a:solidFill>
                  <a:srgbClr val="64748B"/>
                </a:solidFill>
                <a:latin typeface="Arial"/>
              </a:rPr>
              <a:t>untuk</a:t>
            </a:r>
            <a:r>
              <a:rPr sz="1100" dirty="0">
                <a:solidFill>
                  <a:srgbClr val="64748B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64748B"/>
                </a:solidFill>
                <a:latin typeface="Arial"/>
              </a:rPr>
              <a:t>laporan</a:t>
            </a:r>
            <a:r>
              <a:rPr sz="1100" dirty="0">
                <a:solidFill>
                  <a:srgbClr val="64748B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64748B"/>
                </a:solidFill>
                <a:latin typeface="Arial"/>
              </a:rPr>
              <a:t>lingkungan</a:t>
            </a:r>
            <a:r>
              <a:rPr sz="1100" dirty="0">
                <a:solidFill>
                  <a:srgbClr val="64748B"/>
                </a:solidFill>
                <a:latin typeface="Arial"/>
              </a:rPr>
              <a:t>.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DDAC0D7A-9261-2EB1-190F-C8BB9993DB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1604" y="1799759"/>
            <a:ext cx="6725244" cy="420327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6768676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686800" y="3657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059669"/>
                </a:solidFill>
                <a:latin typeface="Arial Black"/>
              </a:rPr>
              <a:t>♻️ RUBBISH APP</a:t>
            </a:r>
            <a:r>
              <a:rPr sz="1100">
                <a:solidFill>
                  <a:srgbClr val="64748B"/>
                </a:solidFill>
                <a:latin typeface="Arial"/>
              </a:rPr>
              <a:t> • USER MANUAL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0D9488"/>
                </a:solidFill>
                <a:latin typeface="Arial"/>
              </a:rPr>
              <a:t>PUSAT BANTUAN &amp; DUKUNGAN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7772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F172A"/>
                </a:solidFill>
                <a:latin typeface="Arial Black"/>
              </a:rPr>
              <a:t>Pertanyaan Umum (FAQ) &amp; Kontak Bantuan</a:t>
            </a:r>
          </a:p>
        </p:txBody>
      </p:sp>
      <p:sp>
        <p:nvSpPr>
          <p:cNvPr id="6" name="Oval 5"/>
          <p:cNvSpPr/>
          <p:nvPr/>
        </p:nvSpPr>
        <p:spPr>
          <a:xfrm>
            <a:off x="11155680" y="822960"/>
            <a:ext cx="54864" cy="548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1301984" y="822960"/>
            <a:ext cx="54864" cy="548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448288" y="822960"/>
            <a:ext cx="54864" cy="548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1594592" y="822960"/>
            <a:ext cx="54864" cy="548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1155680" y="969264"/>
            <a:ext cx="54864" cy="548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1301984" y="969264"/>
            <a:ext cx="54864" cy="548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1448288" y="969264"/>
            <a:ext cx="54864" cy="548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1594592" y="969264"/>
            <a:ext cx="54864" cy="548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1155680" y="1115568"/>
            <a:ext cx="54864" cy="548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1301984" y="1115568"/>
            <a:ext cx="54864" cy="548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1448288" y="1115568"/>
            <a:ext cx="54864" cy="548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1594592" y="1115568"/>
            <a:ext cx="54864" cy="548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748B"/>
                </a:solidFill>
                <a:latin typeface="Arial"/>
              </a:rPr>
              <a:t>Rubbish Digital Platform • www.rubbish.app • Panduan Resmi Pengguna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04269" y="6446520"/>
            <a:ext cx="325731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en-US" sz="1000" b="1" dirty="0">
                <a:solidFill>
                  <a:srgbClr val="059669"/>
                </a:solidFill>
                <a:latin typeface="Arial"/>
              </a:rPr>
              <a:t>11</a:t>
            </a:r>
            <a:endParaRPr sz="1000" b="1" dirty="0">
              <a:solidFill>
                <a:srgbClr val="059669"/>
              </a:solidFill>
              <a:latin typeface="Arial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731520" y="1645920"/>
            <a:ext cx="10728655" cy="10972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731520" y="1645920"/>
            <a:ext cx="164592" cy="109728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66647" y="1874520"/>
            <a:ext cx="10058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dirty="0">
                <a:solidFill>
                  <a:srgbClr val="0F172A"/>
                </a:solidFill>
                <a:latin typeface="Arial"/>
              </a:rPr>
              <a:t>❓ Kapan </a:t>
            </a:r>
            <a:r>
              <a:rPr sz="1200" b="1" dirty="0" err="1">
                <a:solidFill>
                  <a:srgbClr val="0F172A"/>
                </a:solidFill>
                <a:latin typeface="Arial"/>
              </a:rPr>
              <a:t>Sampah</a:t>
            </a:r>
            <a:r>
              <a:rPr sz="1200" b="1" dirty="0">
                <a:solidFill>
                  <a:srgbClr val="0F172A"/>
                </a:solidFill>
                <a:latin typeface="Arial"/>
              </a:rPr>
              <a:t> Saya </a:t>
            </a:r>
            <a:r>
              <a:rPr sz="1200" b="1" dirty="0" err="1">
                <a:solidFill>
                  <a:srgbClr val="0F172A"/>
                </a:solidFill>
                <a:latin typeface="Arial"/>
              </a:rPr>
              <a:t>Dijemput</a:t>
            </a:r>
            <a:r>
              <a:rPr sz="1200" b="1" dirty="0">
                <a:solidFill>
                  <a:srgbClr val="0F172A"/>
                </a:solidFill>
                <a:latin typeface="Arial"/>
              </a:rPr>
              <a:t>?</a:t>
            </a:r>
          </a:p>
          <a:p>
            <a:r>
              <a:rPr sz="1000" dirty="0">
                <a:solidFill>
                  <a:srgbClr val="64748B"/>
                </a:solidFill>
                <a:latin typeface="Arial"/>
              </a:rPr>
              <a:t>Tim </a:t>
            </a:r>
            <a:r>
              <a:rPr sz="1000" dirty="0" err="1">
                <a:solidFill>
                  <a:srgbClr val="64748B"/>
                </a:solidFill>
                <a:latin typeface="Arial"/>
              </a:rPr>
              <a:t>operasional</a:t>
            </a:r>
            <a:r>
              <a:rPr sz="1000" dirty="0">
                <a:solidFill>
                  <a:srgbClr val="64748B"/>
                </a:solidFill>
                <a:latin typeface="Arial"/>
              </a:rPr>
              <a:t> </a:t>
            </a:r>
            <a:r>
              <a:rPr sz="1000" dirty="0" err="1">
                <a:solidFill>
                  <a:srgbClr val="64748B"/>
                </a:solidFill>
                <a:latin typeface="Arial"/>
              </a:rPr>
              <a:t>akan</a:t>
            </a:r>
            <a:r>
              <a:rPr sz="1000" dirty="0">
                <a:solidFill>
                  <a:srgbClr val="64748B"/>
                </a:solidFill>
                <a:latin typeface="Arial"/>
              </a:rPr>
              <a:t> </a:t>
            </a:r>
            <a:r>
              <a:rPr sz="1000" dirty="0" err="1">
                <a:solidFill>
                  <a:srgbClr val="64748B"/>
                </a:solidFill>
                <a:latin typeface="Arial"/>
              </a:rPr>
              <a:t>menghubungi</a:t>
            </a:r>
            <a:r>
              <a:rPr sz="1000" dirty="0">
                <a:solidFill>
                  <a:srgbClr val="64748B"/>
                </a:solidFill>
                <a:latin typeface="Arial"/>
              </a:rPr>
              <a:t> via WhatsApp </a:t>
            </a:r>
            <a:r>
              <a:rPr sz="1000" dirty="0" err="1">
                <a:solidFill>
                  <a:srgbClr val="64748B"/>
                </a:solidFill>
                <a:latin typeface="Arial"/>
              </a:rPr>
              <a:t>dalam</a:t>
            </a:r>
            <a:r>
              <a:rPr sz="1000" dirty="0">
                <a:solidFill>
                  <a:srgbClr val="64748B"/>
                </a:solidFill>
                <a:latin typeface="Arial"/>
              </a:rPr>
              <a:t> 1x24 jam </a:t>
            </a:r>
            <a:r>
              <a:rPr sz="1000" dirty="0" err="1">
                <a:solidFill>
                  <a:srgbClr val="64748B"/>
                </a:solidFill>
                <a:latin typeface="Arial"/>
              </a:rPr>
              <a:t>setelah</a:t>
            </a:r>
            <a:r>
              <a:rPr sz="1000" dirty="0">
                <a:solidFill>
                  <a:srgbClr val="64748B"/>
                </a:solidFill>
                <a:latin typeface="Arial"/>
              </a:rPr>
              <a:t> </a:t>
            </a:r>
            <a:r>
              <a:rPr sz="1000" dirty="0" err="1">
                <a:solidFill>
                  <a:srgbClr val="64748B"/>
                </a:solidFill>
                <a:latin typeface="Arial"/>
              </a:rPr>
              <a:t>laporan</a:t>
            </a:r>
            <a:r>
              <a:rPr sz="1000" dirty="0">
                <a:solidFill>
                  <a:srgbClr val="64748B"/>
                </a:solidFill>
                <a:latin typeface="Arial"/>
              </a:rPr>
              <a:t> </a:t>
            </a:r>
            <a:r>
              <a:rPr sz="1000" dirty="0" err="1">
                <a:solidFill>
                  <a:srgbClr val="64748B"/>
                </a:solidFill>
                <a:latin typeface="Arial"/>
              </a:rPr>
              <a:t>berstatus</a:t>
            </a:r>
            <a:r>
              <a:rPr sz="1000" dirty="0">
                <a:solidFill>
                  <a:srgbClr val="64748B"/>
                </a:solidFill>
                <a:latin typeface="Arial"/>
              </a:rPr>
              <a:t> 'DITERIMA'.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2880360"/>
            <a:ext cx="10728655" cy="10972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731520" y="2880360"/>
            <a:ext cx="164592" cy="109728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97280" y="2990088"/>
            <a:ext cx="10058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F172A"/>
                </a:solidFill>
                <a:latin typeface="Arial"/>
              </a:rPr>
              <a:t>💰 Berapa Nilai Konversi Poin?</a:t>
            </a:r>
          </a:p>
          <a:p>
            <a:r>
              <a:rPr sz="1000">
                <a:solidFill>
                  <a:srgbClr val="64748B"/>
                </a:solidFill>
                <a:latin typeface="Arial"/>
              </a:rPr>
              <a:t>Setiap jenis sampah memiliki nilai berbeda (Plastik: 2.000 pts/kg, Logam: 3.000 pts/kg, Elektronik: 5.000 pts/kg).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4114800"/>
            <a:ext cx="10728655" cy="10972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731520" y="4114800"/>
            <a:ext cx="164592" cy="109728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97280" y="4224528"/>
            <a:ext cx="10058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F172A"/>
                </a:solidFill>
                <a:latin typeface="Arial"/>
              </a:rPr>
              <a:t>🎁 Bagaimana Pengambilan Reward?</a:t>
            </a:r>
          </a:p>
          <a:p>
            <a:r>
              <a:rPr sz="1000">
                <a:solidFill>
                  <a:srgbClr val="64748B"/>
                </a:solidFill>
                <a:latin typeface="Arial"/>
              </a:rPr>
              <a:t>Voucher digital dikirim instan via email/WhatsApp, sedangkan produk fisik dikirim ke alamat terdaftar.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5394960"/>
            <a:ext cx="10728655" cy="77724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Hubungi Kami: support@rubbish.app  |  WhatsApp Hotline: 0812-3456-7890  |  www.rubbish.app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84</TotalTime>
  <Words>1192</Words>
  <Application>Microsoft Office PowerPoint</Application>
  <PresentationFormat>Widescreen</PresentationFormat>
  <Paragraphs>130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Arial Black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Maulidya Agni</cp:lastModifiedBy>
  <cp:revision>2</cp:revision>
  <dcterms:created xsi:type="dcterms:W3CDTF">2013-01-27T09:14:16Z</dcterms:created>
  <dcterms:modified xsi:type="dcterms:W3CDTF">2026-09-28T06:53:02Z</dcterms:modified>
  <cp:category/>
</cp:coreProperties>
</file>